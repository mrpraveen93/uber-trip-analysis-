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2f7394b21f826fdc623244d33ab8b8107c1534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2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4000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CAPSTONE PROJECT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8700" y="628650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 Program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071688"/>
            <a:ext cx="73056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Uber Trip Analysis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7A5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014788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4376738"/>
            <a:ext cx="70770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Transportation Data into Actionable Business Intelligence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94360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621030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Uber Trip Analytics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543098" y="5905619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04998" y="6172319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PRAVEEN MANDANGI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3686175" cy="1600200"/>
          </a:xfrm>
          <a:custGeom>
            <a:avLst/>
            <a:gdLst/>
            <a:ahLst/>
            <a:cxnLst/>
            <a:rect l="l" t="t" r="r" b="b"/>
            <a:pathLst>
              <a:path w="3686175" h="1600200">
                <a:moveTo>
                  <a:pt x="38100" y="0"/>
                </a:moveTo>
                <a:lnTo>
                  <a:pt x="3571873" y="0"/>
                </a:lnTo>
                <a:cubicBezTo>
                  <a:pt x="3634958" y="0"/>
                  <a:pt x="3686175" y="51217"/>
                  <a:pt x="3686175" y="114302"/>
                </a:cubicBezTo>
                <a:lnTo>
                  <a:pt x="3686175" y="1485898"/>
                </a:lnTo>
                <a:cubicBezTo>
                  <a:pt x="3686175" y="1548983"/>
                  <a:pt x="3634958" y="1600200"/>
                  <a:pt x="3571873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46165" y="18859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752600"/>
            <a:ext cx="2809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4003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Ride-sharing industry challenges and the need for centralized BI solutions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60771" y="1524000"/>
            <a:ext cx="3686175" cy="1600200"/>
          </a:xfrm>
          <a:custGeom>
            <a:avLst/>
            <a:gdLst/>
            <a:ahLst/>
            <a:cxnLst/>
            <a:rect l="l" t="t" r="r" b="b"/>
            <a:pathLst>
              <a:path w="3686175" h="1600200">
                <a:moveTo>
                  <a:pt x="38100" y="0"/>
                </a:moveTo>
                <a:lnTo>
                  <a:pt x="3571873" y="0"/>
                </a:lnTo>
                <a:cubicBezTo>
                  <a:pt x="3634958" y="0"/>
                  <a:pt x="3686175" y="51217"/>
                  <a:pt x="3686175" y="114302"/>
                </a:cubicBezTo>
                <a:lnTo>
                  <a:pt x="3686175" y="1485898"/>
                </a:lnTo>
                <a:cubicBezTo>
                  <a:pt x="3686175" y="1548983"/>
                  <a:pt x="3634958" y="1600200"/>
                  <a:pt x="3571873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60771" y="15240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4470321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88550" y="188595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41821" y="18859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70321" y="23622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primary goals for data analysis and performance optimization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1611" y="1524000"/>
            <a:ext cx="3686175" cy="1600200"/>
          </a:xfrm>
          <a:custGeom>
            <a:avLst/>
            <a:gdLst/>
            <a:ahLst/>
            <a:cxnLst/>
            <a:rect l="l" t="t" r="r" b="b"/>
            <a:pathLst>
              <a:path w="3686175" h="1600200">
                <a:moveTo>
                  <a:pt x="38100" y="0"/>
                </a:moveTo>
                <a:lnTo>
                  <a:pt x="3571873" y="0"/>
                </a:lnTo>
                <a:cubicBezTo>
                  <a:pt x="3634958" y="0"/>
                  <a:pt x="3686175" y="51217"/>
                  <a:pt x="3686175" y="114302"/>
                </a:cubicBezTo>
                <a:lnTo>
                  <a:pt x="3686175" y="1485898"/>
                </a:lnTo>
                <a:cubicBezTo>
                  <a:pt x="3686175" y="1548983"/>
                  <a:pt x="3634958" y="1600200"/>
                  <a:pt x="3571873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121611" y="15240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8331161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46889" y="18859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02661" y="18859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1161" y="23622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stack: MySQL, Python, Power BI, and data pipeline architecture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276600"/>
            <a:ext cx="3686175" cy="1524000"/>
          </a:xfrm>
          <a:custGeom>
            <a:avLst/>
            <a:gdLst/>
            <a:ahLst/>
            <a:cxnLst/>
            <a:rect l="l" t="t" r="r" b="b"/>
            <a:pathLst>
              <a:path w="3686175" h="1524000">
                <a:moveTo>
                  <a:pt x="38100" y="0"/>
                </a:moveTo>
                <a:lnTo>
                  <a:pt x="3571875" y="0"/>
                </a:lnTo>
                <a:cubicBezTo>
                  <a:pt x="3634959" y="0"/>
                  <a:pt x="3686175" y="51216"/>
                  <a:pt x="3686175" y="114300"/>
                </a:cubicBezTo>
                <a:lnTo>
                  <a:pt x="3686175" y="1409700"/>
                </a:lnTo>
                <a:cubicBezTo>
                  <a:pt x="3686175" y="1472784"/>
                  <a:pt x="3634959" y="1524000"/>
                  <a:pt x="3571875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32766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7948" y="360045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1100" y="360045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" y="40767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Four-step analytical process from data import to dashboard deployment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60771" y="3276600"/>
            <a:ext cx="3686175" cy="1524000"/>
          </a:xfrm>
          <a:custGeom>
            <a:avLst/>
            <a:gdLst/>
            <a:ahLst/>
            <a:cxnLst/>
            <a:rect l="l" t="t" r="r" b="b"/>
            <a:pathLst>
              <a:path w="3686175" h="1524000">
                <a:moveTo>
                  <a:pt x="38100" y="0"/>
                </a:moveTo>
                <a:lnTo>
                  <a:pt x="3571875" y="0"/>
                </a:lnTo>
                <a:cubicBezTo>
                  <a:pt x="3634959" y="0"/>
                  <a:pt x="3686175" y="51216"/>
                  <a:pt x="3686175" y="114300"/>
                </a:cubicBezTo>
                <a:lnTo>
                  <a:pt x="3686175" y="1409700"/>
                </a:lnTo>
                <a:cubicBezTo>
                  <a:pt x="3686175" y="1472784"/>
                  <a:pt x="3634959" y="1524000"/>
                  <a:pt x="3571875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60771" y="32766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4470321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85811" y="36004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41821" y="36004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Description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70321" y="40767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structure: 103,728 records with trip and location attributes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1611" y="3276600"/>
            <a:ext cx="3686175" cy="1524000"/>
          </a:xfrm>
          <a:custGeom>
            <a:avLst/>
            <a:gdLst/>
            <a:ahLst/>
            <a:cxnLst/>
            <a:rect l="l" t="t" r="r" b="b"/>
            <a:pathLst>
              <a:path w="3686175" h="1524000">
                <a:moveTo>
                  <a:pt x="38100" y="0"/>
                </a:moveTo>
                <a:lnTo>
                  <a:pt x="3571875" y="0"/>
                </a:lnTo>
                <a:cubicBezTo>
                  <a:pt x="3634959" y="0"/>
                  <a:pt x="3686175" y="51216"/>
                  <a:pt x="3686175" y="114300"/>
                </a:cubicBezTo>
                <a:lnTo>
                  <a:pt x="3686175" y="1409700"/>
                </a:lnTo>
                <a:cubicBezTo>
                  <a:pt x="3686175" y="1472784"/>
                  <a:pt x="3634959" y="1524000"/>
                  <a:pt x="3571875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21611" y="32766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Shape 35"/>
          <p:cNvSpPr/>
          <p:nvPr/>
        </p:nvSpPr>
        <p:spPr>
          <a:xfrm>
            <a:off x="8331161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445461" y="36004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02661" y="360045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Design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31161" y="40767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Three-dashboard architecture with KPI cards, time analysis, and location insights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953000"/>
            <a:ext cx="3686175" cy="1524000"/>
          </a:xfrm>
          <a:custGeom>
            <a:avLst/>
            <a:gdLst/>
            <a:ahLst/>
            <a:cxnLst/>
            <a:rect l="l" t="t" r="r" b="b"/>
            <a:pathLst>
              <a:path w="3686175" h="1524000">
                <a:moveTo>
                  <a:pt x="38100" y="0"/>
                </a:moveTo>
                <a:lnTo>
                  <a:pt x="3571875" y="0"/>
                </a:lnTo>
                <a:cubicBezTo>
                  <a:pt x="3634959" y="0"/>
                  <a:pt x="3686175" y="51216"/>
                  <a:pt x="3686175" y="114300"/>
                </a:cubicBezTo>
                <a:lnTo>
                  <a:pt x="3686175" y="1409700"/>
                </a:lnTo>
                <a:cubicBezTo>
                  <a:pt x="3686175" y="1472784"/>
                  <a:pt x="3634959" y="1524000"/>
                  <a:pt x="3571875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49530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32830" y="5276850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1100" y="52768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9600" y="57531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major findings on demand patterns, cancellations, and revenue correlation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60771" y="4953000"/>
            <a:ext cx="3686175" cy="1524000"/>
          </a:xfrm>
          <a:custGeom>
            <a:avLst/>
            <a:gdLst/>
            <a:ahLst/>
            <a:cxnLst/>
            <a:rect l="l" t="t" r="r" b="b"/>
            <a:pathLst>
              <a:path w="3686175" h="1524000">
                <a:moveTo>
                  <a:pt x="38100" y="0"/>
                </a:moveTo>
                <a:lnTo>
                  <a:pt x="3571875" y="0"/>
                </a:lnTo>
                <a:cubicBezTo>
                  <a:pt x="3634959" y="0"/>
                  <a:pt x="3686175" y="51216"/>
                  <a:pt x="3686175" y="114300"/>
                </a:cubicBezTo>
                <a:lnTo>
                  <a:pt x="3686175" y="1409700"/>
                </a:lnTo>
                <a:cubicBezTo>
                  <a:pt x="3686175" y="1472784"/>
                  <a:pt x="3634959" y="1524000"/>
                  <a:pt x="3571875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260771" y="49530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9" name="Shape 47"/>
          <p:cNvSpPr/>
          <p:nvPr/>
        </p:nvSpPr>
        <p:spPr>
          <a:xfrm>
            <a:off x="4470321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583906" y="52768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041821" y="527685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Applications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470321" y="57531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hurdles overcome and real-world use cases across teams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21611" y="4953000"/>
            <a:ext cx="3686175" cy="1524000"/>
          </a:xfrm>
          <a:custGeom>
            <a:avLst/>
            <a:gdLst/>
            <a:ahLst/>
            <a:cxnLst/>
            <a:rect l="l" t="t" r="r" b="b"/>
            <a:pathLst>
              <a:path w="3686175" h="1524000">
                <a:moveTo>
                  <a:pt x="38100" y="0"/>
                </a:moveTo>
                <a:lnTo>
                  <a:pt x="3571875" y="0"/>
                </a:lnTo>
                <a:cubicBezTo>
                  <a:pt x="3634959" y="0"/>
                  <a:pt x="3686175" y="51216"/>
                  <a:pt x="3686175" y="114300"/>
                </a:cubicBezTo>
                <a:lnTo>
                  <a:pt x="3686175" y="1409700"/>
                </a:lnTo>
                <a:cubicBezTo>
                  <a:pt x="3686175" y="1472784"/>
                  <a:pt x="3634959" y="1524000"/>
                  <a:pt x="3571875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21611" y="49530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8331161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445341" y="52768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902661" y="527685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31161" y="5753100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impact summary and seven enhancement opportunities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5608320" cy="3312795"/>
          </a:xfrm>
          <a:custGeom>
            <a:avLst/>
            <a:gdLst/>
            <a:ahLst/>
            <a:cxnLst/>
            <a:rect l="l" t="t" r="r" b="b"/>
            <a:pathLst>
              <a:path w="5608320" h="3312795">
                <a:moveTo>
                  <a:pt x="114291" y="0"/>
                </a:moveTo>
                <a:lnTo>
                  <a:pt x="5494029" y="0"/>
                </a:lnTo>
                <a:cubicBezTo>
                  <a:pt x="5557150" y="0"/>
                  <a:pt x="5608320" y="51170"/>
                  <a:pt x="5608320" y="114291"/>
                </a:cubicBezTo>
                <a:lnTo>
                  <a:pt x="5608320" y="3198504"/>
                </a:lnTo>
                <a:cubicBezTo>
                  <a:pt x="5608320" y="3261625"/>
                  <a:pt x="5557150" y="3312795"/>
                  <a:pt x="5494029" y="3312795"/>
                </a:cubicBezTo>
                <a:lnTo>
                  <a:pt x="114291" y="3312795"/>
                </a:lnTo>
                <a:cubicBezTo>
                  <a:pt x="51170" y="3312795"/>
                  <a:pt x="0" y="3261625"/>
                  <a:pt x="0" y="319850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5697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2470" y="17030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64592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Context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179320"/>
            <a:ext cx="5295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today's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fast-growing ride-sharing industry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companies like Uber must efficiently manage trip demand, driver allocation, and revenue generation. Understanding travel patterns, peak demand hours, cancellation behavior, and high-traffic zones is crucial for operational success.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2932" y="36823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907733" y="365379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demand fluctuations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2932" y="39871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07733" y="395859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operational decisions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2932" y="42919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07733" y="426339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Multi-location coordination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4846321"/>
            <a:ext cx="5608320" cy="1626870"/>
          </a:xfrm>
          <a:custGeom>
            <a:avLst/>
            <a:gdLst/>
            <a:ahLst/>
            <a:cxnLst/>
            <a:rect l="l" t="t" r="r" b="b"/>
            <a:pathLst>
              <a:path w="5608320" h="1626870">
                <a:moveTo>
                  <a:pt x="114304" y="0"/>
                </a:moveTo>
                <a:lnTo>
                  <a:pt x="5494016" y="0"/>
                </a:lnTo>
                <a:cubicBezTo>
                  <a:pt x="5557144" y="0"/>
                  <a:pt x="5608320" y="51176"/>
                  <a:pt x="5608320" y="114304"/>
                </a:cubicBezTo>
                <a:lnTo>
                  <a:pt x="5608320" y="1512566"/>
                </a:lnTo>
                <a:cubicBezTo>
                  <a:pt x="5608320" y="1575694"/>
                  <a:pt x="5557144" y="1626870"/>
                  <a:pt x="5494016" y="1626870"/>
                </a:cubicBezTo>
                <a:lnTo>
                  <a:pt x="114304" y="1626870"/>
                </a:lnTo>
                <a:cubicBezTo>
                  <a:pt x="51176" y="1626870"/>
                  <a:pt x="0" y="1575694"/>
                  <a:pt x="0" y="151256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120" y="504063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07708" y="514540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509778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Focus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120" y="5535930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focuses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analyzing Uber trip data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building an interactive Power BI dashboard to extract meaningful insights that support data-driven decision-making.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8870" y="1379220"/>
            <a:ext cx="5606415" cy="5092065"/>
          </a:xfrm>
          <a:custGeom>
            <a:avLst/>
            <a:gdLst/>
            <a:ahLst/>
            <a:cxnLst/>
            <a:rect l="l" t="t" r="r" b="b"/>
            <a:pathLst>
              <a:path w="5606415" h="5092065">
                <a:moveTo>
                  <a:pt x="114317" y="0"/>
                </a:moveTo>
                <a:lnTo>
                  <a:pt x="5492098" y="0"/>
                </a:lnTo>
                <a:cubicBezTo>
                  <a:pt x="5555234" y="0"/>
                  <a:pt x="5606415" y="51181"/>
                  <a:pt x="5606415" y="114317"/>
                </a:cubicBezTo>
                <a:lnTo>
                  <a:pt x="5606415" y="4977748"/>
                </a:lnTo>
                <a:cubicBezTo>
                  <a:pt x="5606415" y="5040884"/>
                  <a:pt x="5555234" y="5092065"/>
                  <a:pt x="5492098" y="5092065"/>
                </a:cubicBezTo>
                <a:lnTo>
                  <a:pt x="114317" y="5092065"/>
                </a:lnTo>
                <a:cubicBezTo>
                  <a:pt x="51181" y="5092065"/>
                  <a:pt x="0" y="5040884"/>
                  <a:pt x="0" y="4977748"/>
                </a:cubicBezTo>
                <a:lnTo>
                  <a:pt x="0" y="114317"/>
                </a:lnTo>
                <a:cubicBezTo>
                  <a:pt x="0" y="51224"/>
                  <a:pt x="51224" y="0"/>
                  <a:pt x="114317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6990" y="15773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0340" y="171069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6968490" y="1653540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96990" y="2186940"/>
            <a:ext cx="5286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Ride-hailing businesses like Uber operate in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dynamic environment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demand, pricing, and operational efficiency fluctuate based on time, location, and customer preferences.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96990" y="3082290"/>
            <a:ext cx="5210175" cy="1790700"/>
          </a:xfrm>
          <a:custGeom>
            <a:avLst/>
            <a:gdLst/>
            <a:ahLst/>
            <a:cxnLst/>
            <a:rect l="l" t="t" r="r" b="b"/>
            <a:pathLst>
              <a:path w="5210175" h="1790700">
                <a:moveTo>
                  <a:pt x="76194" y="0"/>
                </a:moveTo>
                <a:lnTo>
                  <a:pt x="5133981" y="0"/>
                </a:lnTo>
                <a:cubicBezTo>
                  <a:pt x="5176033" y="0"/>
                  <a:pt x="5210175" y="34142"/>
                  <a:pt x="5210175" y="76194"/>
                </a:cubicBezTo>
                <a:lnTo>
                  <a:pt x="5210175" y="1714506"/>
                </a:lnTo>
                <a:cubicBezTo>
                  <a:pt x="5210175" y="1756587"/>
                  <a:pt x="5176062" y="1790700"/>
                  <a:pt x="5133981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49390" y="3234690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a centralized analytical solution: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73203" y="359664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878003" y="357759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 to track booking trends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73203" y="390144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878003" y="3882390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optimize pricing strategies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73203" y="420624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878003" y="418719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Inefficient driver allocation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73203" y="451104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878003" y="449199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visibility into performance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6990" y="5223511"/>
            <a:ext cx="5210175" cy="1047750"/>
          </a:xfrm>
          <a:custGeom>
            <a:avLst/>
            <a:gdLst/>
            <a:ahLst/>
            <a:cxnLst/>
            <a:rect l="l" t="t" r="r" b="b"/>
            <a:pathLst>
              <a:path w="5210175" h="1047750">
                <a:moveTo>
                  <a:pt x="76203" y="0"/>
                </a:moveTo>
                <a:lnTo>
                  <a:pt x="5133972" y="0"/>
                </a:lnTo>
                <a:cubicBezTo>
                  <a:pt x="5176030" y="0"/>
                  <a:pt x="5210175" y="34145"/>
                  <a:pt x="5210175" y="76203"/>
                </a:cubicBezTo>
                <a:lnTo>
                  <a:pt x="5210175" y="971547"/>
                </a:lnTo>
                <a:cubicBezTo>
                  <a:pt x="5210175" y="1013605"/>
                  <a:pt x="5176030" y="1047750"/>
                  <a:pt x="5133972" y="1047750"/>
                </a:cubicBezTo>
                <a:lnTo>
                  <a:pt x="76203" y="1047750"/>
                </a:lnTo>
                <a:cubicBezTo>
                  <a:pt x="34145" y="1047750"/>
                  <a:pt x="0" y="1013605"/>
                  <a:pt x="0" y="971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49390" y="5375911"/>
            <a:ext cx="4981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comprehensive BI solution enabling stakeholders to monitor trip performance, identify demand patterns, and improve customer satisfaction through actionable insights.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455420"/>
            <a:ext cx="3644265" cy="4053840"/>
          </a:xfrm>
          <a:custGeom>
            <a:avLst/>
            <a:gdLst/>
            <a:ahLst/>
            <a:cxnLst/>
            <a:rect l="l" t="t" r="r" b="b"/>
            <a:pathLst>
              <a:path w="3644265" h="4053840">
                <a:moveTo>
                  <a:pt x="114284" y="0"/>
                </a:moveTo>
                <a:lnTo>
                  <a:pt x="3529981" y="0"/>
                </a:lnTo>
                <a:cubicBezTo>
                  <a:pt x="3593098" y="0"/>
                  <a:pt x="3644265" y="51167"/>
                  <a:pt x="3644265" y="114284"/>
                </a:cubicBezTo>
                <a:lnTo>
                  <a:pt x="3644265" y="3939556"/>
                </a:lnTo>
                <a:cubicBezTo>
                  <a:pt x="3644265" y="4002673"/>
                  <a:pt x="3593098" y="4053840"/>
                  <a:pt x="3529981" y="4053840"/>
                </a:cubicBezTo>
                <a:lnTo>
                  <a:pt x="114284" y="4053840"/>
                </a:lnTo>
                <a:cubicBezTo>
                  <a:pt x="51167" y="4053840"/>
                  <a:pt x="0" y="4002673"/>
                  <a:pt x="0" y="3939556"/>
                </a:cubicBezTo>
                <a:lnTo>
                  <a:pt x="0" y="114284"/>
                </a:lnTo>
                <a:cubicBezTo>
                  <a:pt x="0" y="51167"/>
                  <a:pt x="51167" y="0"/>
                  <a:pt x="11428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1040" y="17678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67727" y="1901191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786891"/>
            <a:ext cx="2371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Data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1040" y="2606041"/>
            <a:ext cx="3105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historical trip data</a:t>
            </a:r>
            <a:pPr>
              <a:lnSpc>
                <a:spcPct val="17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extract meaningful insights about travel patterns, customer behavior, and operational performance.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1040" y="4272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0590" y="4206241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recognition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1040" y="4653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10590" y="4587241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identification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1040" y="5034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10590" y="4968241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4820" y="1455420"/>
            <a:ext cx="3644265" cy="4053840"/>
          </a:xfrm>
          <a:custGeom>
            <a:avLst/>
            <a:gdLst/>
            <a:ahLst/>
            <a:cxnLst/>
            <a:rect l="l" t="t" r="r" b="b"/>
            <a:pathLst>
              <a:path w="3644265" h="4053840">
                <a:moveTo>
                  <a:pt x="114284" y="0"/>
                </a:moveTo>
                <a:lnTo>
                  <a:pt x="3529981" y="0"/>
                </a:lnTo>
                <a:cubicBezTo>
                  <a:pt x="3593098" y="0"/>
                  <a:pt x="3644265" y="51167"/>
                  <a:pt x="3644265" y="114284"/>
                </a:cubicBezTo>
                <a:lnTo>
                  <a:pt x="3644265" y="3939556"/>
                </a:lnTo>
                <a:cubicBezTo>
                  <a:pt x="3644265" y="4002673"/>
                  <a:pt x="3593098" y="4053840"/>
                  <a:pt x="3529981" y="4053840"/>
                </a:cubicBezTo>
                <a:lnTo>
                  <a:pt x="114284" y="4053840"/>
                </a:lnTo>
                <a:cubicBezTo>
                  <a:pt x="51167" y="4053840"/>
                  <a:pt x="0" y="4002673"/>
                  <a:pt x="0" y="3939556"/>
                </a:cubicBezTo>
                <a:lnTo>
                  <a:pt x="0" y="114284"/>
                </a:lnTo>
                <a:cubicBezTo>
                  <a:pt x="0" y="51167"/>
                  <a:pt x="51167" y="0"/>
                  <a:pt x="11428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87240" y="17678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4726543" y="1901191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1929766"/>
            <a:ext cx="1771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 Visualization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87240" y="2606041"/>
            <a:ext cx="3105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 Key Performance Indicators</a:t>
            </a:r>
            <a:pPr>
              <a:lnSpc>
                <a:spcPct val="17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monitor trip performance in real-time through interactive dashboards and reports.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87240" y="4272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796790" y="4206241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87240" y="4653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4796790" y="4587241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87240" y="5034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4796790" y="4968241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tracking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61020" y="1455420"/>
            <a:ext cx="3644265" cy="4053840"/>
          </a:xfrm>
          <a:custGeom>
            <a:avLst/>
            <a:gdLst/>
            <a:ahLst/>
            <a:cxnLst/>
            <a:rect l="l" t="t" r="r" b="b"/>
            <a:pathLst>
              <a:path w="3644265" h="4053840">
                <a:moveTo>
                  <a:pt x="114284" y="0"/>
                </a:moveTo>
                <a:lnTo>
                  <a:pt x="3529981" y="0"/>
                </a:lnTo>
                <a:cubicBezTo>
                  <a:pt x="3593098" y="0"/>
                  <a:pt x="3644265" y="51167"/>
                  <a:pt x="3644265" y="114284"/>
                </a:cubicBezTo>
                <a:lnTo>
                  <a:pt x="3644265" y="3939556"/>
                </a:lnTo>
                <a:cubicBezTo>
                  <a:pt x="3644265" y="4002673"/>
                  <a:pt x="3593098" y="4053840"/>
                  <a:pt x="3529981" y="4053840"/>
                </a:cubicBezTo>
                <a:lnTo>
                  <a:pt x="114284" y="4053840"/>
                </a:lnTo>
                <a:cubicBezTo>
                  <a:pt x="51167" y="4053840"/>
                  <a:pt x="0" y="4002673"/>
                  <a:pt x="0" y="3939556"/>
                </a:cubicBezTo>
                <a:lnTo>
                  <a:pt x="0" y="114284"/>
                </a:lnTo>
                <a:cubicBezTo>
                  <a:pt x="0" y="51167"/>
                  <a:pt x="51167" y="0"/>
                  <a:pt x="11428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73440" y="17678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8609052" y="1901191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35440" y="1929766"/>
            <a:ext cx="23145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Strategy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73440" y="2606041"/>
            <a:ext cx="3105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peak booking hours, high-demand locations,</a:t>
            </a:r>
            <a:pPr>
              <a:lnSpc>
                <a:spcPct val="170000"/>
              </a:lnSpc>
            </a:pPr>
            <a:r>
              <a:rPr lang="en-US" sz="13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supply-demand gaps to optimize driver allocation and reduce wait times.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73440" y="4272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8682990" y="4206241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Demand forecasting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73440" y="4653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8682990" y="4587241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optimization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73440" y="503491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8682990" y="4968241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improvement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4810" y="5749290"/>
            <a:ext cx="11418570" cy="960120"/>
          </a:xfrm>
          <a:custGeom>
            <a:avLst/>
            <a:gdLst/>
            <a:ahLst/>
            <a:cxnLst/>
            <a:rect l="l" t="t" r="r" b="b"/>
            <a:pathLst>
              <a:path w="11418570" h="960120">
                <a:moveTo>
                  <a:pt x="114302" y="0"/>
                </a:moveTo>
                <a:lnTo>
                  <a:pt x="11304268" y="0"/>
                </a:lnTo>
                <a:cubicBezTo>
                  <a:pt x="11367353" y="0"/>
                  <a:pt x="11418570" y="51217"/>
                  <a:pt x="11418570" y="114302"/>
                </a:cubicBezTo>
                <a:lnTo>
                  <a:pt x="11418570" y="845818"/>
                </a:lnTo>
                <a:cubicBezTo>
                  <a:pt x="11418570" y="908903"/>
                  <a:pt x="11367353" y="960120"/>
                  <a:pt x="11304268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" y="6086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1088708" y="59817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Goal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88708" y="62484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data-driven decision-making through comprehensive analytics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416303" y="5943600"/>
            <a:ext cx="1200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482978" y="628650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Objectives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904" y="353904"/>
            <a:ext cx="11554972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spc="111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904" y="637028"/>
            <a:ext cx="11643448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904" y="1097103"/>
            <a:ext cx="849370" cy="35390"/>
          </a:xfrm>
          <a:custGeom>
            <a:avLst/>
            <a:gdLst/>
            <a:ahLst/>
            <a:cxnLst/>
            <a:rect l="l" t="t" r="r" b="b"/>
            <a:pathLst>
              <a:path w="849370" h="35390">
                <a:moveTo>
                  <a:pt x="0" y="0"/>
                </a:moveTo>
                <a:lnTo>
                  <a:pt x="849370" y="0"/>
                </a:lnTo>
                <a:lnTo>
                  <a:pt x="849370" y="35390"/>
                </a:lnTo>
                <a:lnTo>
                  <a:pt x="0" y="3539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57443" y="1277594"/>
            <a:ext cx="5660698" cy="2148199"/>
          </a:xfrm>
          <a:custGeom>
            <a:avLst/>
            <a:gdLst/>
            <a:ahLst/>
            <a:cxnLst/>
            <a:rect l="l" t="t" r="r" b="b"/>
            <a:pathLst>
              <a:path w="5660698" h="2148199">
                <a:moveTo>
                  <a:pt x="106164" y="0"/>
                </a:moveTo>
                <a:lnTo>
                  <a:pt x="5554534" y="0"/>
                </a:lnTo>
                <a:cubicBezTo>
                  <a:pt x="5613167" y="0"/>
                  <a:pt x="5660698" y="47531"/>
                  <a:pt x="5660698" y="106164"/>
                </a:cubicBezTo>
                <a:lnTo>
                  <a:pt x="5660698" y="2042035"/>
                </a:lnTo>
                <a:cubicBezTo>
                  <a:pt x="5660698" y="2100667"/>
                  <a:pt x="5613167" y="2148199"/>
                  <a:pt x="5554534" y="2148199"/>
                </a:cubicBezTo>
                <a:lnTo>
                  <a:pt x="106164" y="2148199"/>
                </a:lnTo>
                <a:cubicBezTo>
                  <a:pt x="47531" y="2148199"/>
                  <a:pt x="0" y="2100667"/>
                  <a:pt x="0" y="2042035"/>
                </a:cubicBezTo>
                <a:lnTo>
                  <a:pt x="0" y="106164"/>
                </a:lnTo>
                <a:cubicBezTo>
                  <a:pt x="0" y="47531"/>
                  <a:pt x="47531" y="0"/>
                  <a:pt x="10616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934" y="1458086"/>
            <a:ext cx="495466" cy="495466"/>
          </a:xfrm>
          <a:custGeom>
            <a:avLst/>
            <a:gdLst/>
            <a:ahLst/>
            <a:cxnLst/>
            <a:rect l="l" t="t" r="r" b="b"/>
            <a:pathLst>
              <a:path w="495466" h="495466">
                <a:moveTo>
                  <a:pt x="106173" y="0"/>
                </a:moveTo>
                <a:lnTo>
                  <a:pt x="389293" y="0"/>
                </a:lnTo>
                <a:cubicBezTo>
                  <a:pt x="447930" y="0"/>
                  <a:pt x="495466" y="47535"/>
                  <a:pt x="495466" y="106173"/>
                </a:cubicBezTo>
                <a:lnTo>
                  <a:pt x="495466" y="389293"/>
                </a:lnTo>
                <a:cubicBezTo>
                  <a:pt x="495466" y="447930"/>
                  <a:pt x="447930" y="495466"/>
                  <a:pt x="389293" y="495466"/>
                </a:cubicBezTo>
                <a:lnTo>
                  <a:pt x="106173" y="495466"/>
                </a:lnTo>
                <a:cubicBezTo>
                  <a:pt x="47535" y="495466"/>
                  <a:pt x="0" y="447930"/>
                  <a:pt x="0" y="389293"/>
                </a:cubicBezTo>
                <a:lnTo>
                  <a:pt x="0" y="106173"/>
                </a:lnTo>
                <a:cubicBezTo>
                  <a:pt x="0" y="47575"/>
                  <a:pt x="47575" y="0"/>
                  <a:pt x="10617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2768" y="1599647"/>
            <a:ext cx="185800" cy="212343"/>
          </a:xfrm>
          <a:custGeom>
            <a:avLst/>
            <a:gdLst/>
            <a:ahLst/>
            <a:cxnLst/>
            <a:rect l="l" t="t" r="r" b="b"/>
            <a:pathLst>
              <a:path w="185800" h="212343">
                <a:moveTo>
                  <a:pt x="185800" y="85352"/>
                </a:moveTo>
                <a:cubicBezTo>
                  <a:pt x="179662" y="89416"/>
                  <a:pt x="172611" y="92692"/>
                  <a:pt x="165271" y="95305"/>
                </a:cubicBezTo>
                <a:cubicBezTo>
                  <a:pt x="145778" y="102273"/>
                  <a:pt x="120189" y="106171"/>
                  <a:pt x="92900" y="106171"/>
                </a:cubicBezTo>
                <a:cubicBezTo>
                  <a:pt x="65611" y="106171"/>
                  <a:pt x="39980" y="102231"/>
                  <a:pt x="20529" y="95305"/>
                </a:cubicBezTo>
                <a:cubicBezTo>
                  <a:pt x="13230" y="92692"/>
                  <a:pt x="6138" y="89416"/>
                  <a:pt x="0" y="85352"/>
                </a:cubicBezTo>
                <a:lnTo>
                  <a:pt x="0" y="119443"/>
                </a:lnTo>
                <a:cubicBezTo>
                  <a:pt x="0" y="137774"/>
                  <a:pt x="41598" y="152621"/>
                  <a:pt x="92900" y="152621"/>
                </a:cubicBezTo>
                <a:cubicBezTo>
                  <a:pt x="144202" y="152621"/>
                  <a:pt x="185800" y="137774"/>
                  <a:pt x="185800" y="119443"/>
                </a:cubicBezTo>
                <a:lnTo>
                  <a:pt x="185800" y="85352"/>
                </a:lnTo>
                <a:close/>
                <a:moveTo>
                  <a:pt x="185800" y="53086"/>
                </a:moveTo>
                <a:lnTo>
                  <a:pt x="185800" y="33179"/>
                </a:lnTo>
                <a:cubicBezTo>
                  <a:pt x="185800" y="14847"/>
                  <a:pt x="144202" y="0"/>
                  <a:pt x="92900" y="0"/>
                </a:cubicBezTo>
                <a:cubicBezTo>
                  <a:pt x="41598" y="0"/>
                  <a:pt x="0" y="14847"/>
                  <a:pt x="0" y="33179"/>
                </a:cubicBezTo>
                <a:lnTo>
                  <a:pt x="0" y="53086"/>
                </a:lnTo>
                <a:cubicBezTo>
                  <a:pt x="0" y="71417"/>
                  <a:pt x="41598" y="86264"/>
                  <a:pt x="92900" y="86264"/>
                </a:cubicBezTo>
                <a:cubicBezTo>
                  <a:pt x="144202" y="86264"/>
                  <a:pt x="185800" y="71417"/>
                  <a:pt x="185800" y="53086"/>
                </a:cubicBezTo>
                <a:close/>
                <a:moveTo>
                  <a:pt x="165271" y="161662"/>
                </a:moveTo>
                <a:cubicBezTo>
                  <a:pt x="145820" y="168588"/>
                  <a:pt x="120231" y="172528"/>
                  <a:pt x="92900" y="172528"/>
                </a:cubicBezTo>
                <a:cubicBezTo>
                  <a:pt x="65569" y="172528"/>
                  <a:pt x="39980" y="168588"/>
                  <a:pt x="20529" y="161662"/>
                </a:cubicBezTo>
                <a:cubicBezTo>
                  <a:pt x="13230" y="159050"/>
                  <a:pt x="6138" y="155773"/>
                  <a:pt x="0" y="151709"/>
                </a:cubicBezTo>
                <a:lnTo>
                  <a:pt x="0" y="179164"/>
                </a:lnTo>
                <a:cubicBezTo>
                  <a:pt x="0" y="197495"/>
                  <a:pt x="41598" y="212343"/>
                  <a:pt x="92900" y="212343"/>
                </a:cubicBezTo>
                <a:cubicBezTo>
                  <a:pt x="144202" y="212343"/>
                  <a:pt x="185800" y="197495"/>
                  <a:pt x="185800" y="179164"/>
                </a:cubicBezTo>
                <a:lnTo>
                  <a:pt x="185800" y="151709"/>
                </a:lnTo>
                <a:cubicBezTo>
                  <a:pt x="179662" y="155773"/>
                  <a:pt x="172611" y="159050"/>
                  <a:pt x="165271" y="16166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174962" y="1458086"/>
            <a:ext cx="1309446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4962" y="1741099"/>
            <a:ext cx="1274055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Database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7934" y="2095113"/>
            <a:ext cx="5370496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data storage and querying platform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structured trip data management.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1020" y="2502103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5667" y="2466713"/>
            <a:ext cx="1999559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 design and data import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1020" y="2785227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85667" y="2749836"/>
            <a:ext cx="1902235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SQL queries for KPIs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1020" y="3068350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785667" y="3032960"/>
            <a:ext cx="2353463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 alignment and optimization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7443" y="3574433"/>
            <a:ext cx="5660698" cy="2148199"/>
          </a:xfrm>
          <a:custGeom>
            <a:avLst/>
            <a:gdLst/>
            <a:ahLst/>
            <a:cxnLst/>
            <a:rect l="l" t="t" r="r" b="b"/>
            <a:pathLst>
              <a:path w="5660698" h="2148199">
                <a:moveTo>
                  <a:pt x="106164" y="0"/>
                </a:moveTo>
                <a:lnTo>
                  <a:pt x="5554534" y="0"/>
                </a:lnTo>
                <a:cubicBezTo>
                  <a:pt x="5613167" y="0"/>
                  <a:pt x="5660698" y="47531"/>
                  <a:pt x="5660698" y="106164"/>
                </a:cubicBezTo>
                <a:lnTo>
                  <a:pt x="5660698" y="2042035"/>
                </a:lnTo>
                <a:cubicBezTo>
                  <a:pt x="5660698" y="2100667"/>
                  <a:pt x="5613167" y="2148199"/>
                  <a:pt x="5554534" y="2148199"/>
                </a:cubicBezTo>
                <a:lnTo>
                  <a:pt x="106164" y="2148199"/>
                </a:lnTo>
                <a:cubicBezTo>
                  <a:pt x="47531" y="2148199"/>
                  <a:pt x="0" y="2100667"/>
                  <a:pt x="0" y="2042035"/>
                </a:cubicBezTo>
                <a:lnTo>
                  <a:pt x="0" y="106164"/>
                </a:lnTo>
                <a:cubicBezTo>
                  <a:pt x="0" y="47531"/>
                  <a:pt x="47531" y="0"/>
                  <a:pt x="10616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934" y="3754925"/>
            <a:ext cx="495466" cy="495466"/>
          </a:xfrm>
          <a:custGeom>
            <a:avLst/>
            <a:gdLst/>
            <a:ahLst/>
            <a:cxnLst/>
            <a:rect l="l" t="t" r="r" b="b"/>
            <a:pathLst>
              <a:path w="495466" h="495466">
                <a:moveTo>
                  <a:pt x="106173" y="0"/>
                </a:moveTo>
                <a:lnTo>
                  <a:pt x="389293" y="0"/>
                </a:lnTo>
                <a:cubicBezTo>
                  <a:pt x="447930" y="0"/>
                  <a:pt x="495466" y="47535"/>
                  <a:pt x="495466" y="106173"/>
                </a:cubicBezTo>
                <a:lnTo>
                  <a:pt x="495466" y="389293"/>
                </a:lnTo>
                <a:cubicBezTo>
                  <a:pt x="495466" y="447930"/>
                  <a:pt x="447930" y="495466"/>
                  <a:pt x="389293" y="495466"/>
                </a:cubicBezTo>
                <a:lnTo>
                  <a:pt x="106173" y="495466"/>
                </a:lnTo>
                <a:cubicBezTo>
                  <a:pt x="47535" y="495466"/>
                  <a:pt x="0" y="447930"/>
                  <a:pt x="0" y="389293"/>
                </a:cubicBezTo>
                <a:lnTo>
                  <a:pt x="0" y="106173"/>
                </a:lnTo>
                <a:cubicBezTo>
                  <a:pt x="0" y="47575"/>
                  <a:pt x="47575" y="0"/>
                  <a:pt x="106173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2768" y="3896487"/>
            <a:ext cx="185800" cy="212343"/>
          </a:xfrm>
          <a:custGeom>
            <a:avLst/>
            <a:gdLst/>
            <a:ahLst/>
            <a:cxnLst/>
            <a:rect l="l" t="t" r="r" b="b"/>
            <a:pathLst>
              <a:path w="185800" h="212343">
                <a:moveTo>
                  <a:pt x="182399" y="83154"/>
                </a:moveTo>
                <a:cubicBezTo>
                  <a:pt x="179205" y="70338"/>
                  <a:pt x="173150" y="60675"/>
                  <a:pt x="160252" y="60675"/>
                </a:cubicBezTo>
                <a:lnTo>
                  <a:pt x="143622" y="60675"/>
                </a:lnTo>
                <a:lnTo>
                  <a:pt x="143622" y="80333"/>
                </a:lnTo>
                <a:cubicBezTo>
                  <a:pt x="143622" y="95596"/>
                  <a:pt x="130682" y="108452"/>
                  <a:pt x="115917" y="108452"/>
                </a:cubicBezTo>
                <a:lnTo>
                  <a:pt x="71624" y="108452"/>
                </a:lnTo>
                <a:cubicBezTo>
                  <a:pt x="59514" y="108452"/>
                  <a:pt x="49477" y="118821"/>
                  <a:pt x="49477" y="130972"/>
                </a:cubicBezTo>
                <a:lnTo>
                  <a:pt x="49477" y="173192"/>
                </a:lnTo>
                <a:cubicBezTo>
                  <a:pt x="49477" y="185219"/>
                  <a:pt x="59929" y="192270"/>
                  <a:pt x="71624" y="195712"/>
                </a:cubicBezTo>
                <a:cubicBezTo>
                  <a:pt x="85642" y="199818"/>
                  <a:pt x="99121" y="200564"/>
                  <a:pt x="115917" y="195712"/>
                </a:cubicBezTo>
                <a:cubicBezTo>
                  <a:pt x="127074" y="192477"/>
                  <a:pt x="138064" y="185966"/>
                  <a:pt x="138064" y="173192"/>
                </a:cubicBezTo>
                <a:lnTo>
                  <a:pt x="138064" y="156312"/>
                </a:lnTo>
                <a:lnTo>
                  <a:pt x="93812" y="156312"/>
                </a:lnTo>
                <a:lnTo>
                  <a:pt x="93812" y="150672"/>
                </a:lnTo>
                <a:lnTo>
                  <a:pt x="160252" y="150672"/>
                </a:lnTo>
                <a:cubicBezTo>
                  <a:pt x="173150" y="150672"/>
                  <a:pt x="177920" y="141672"/>
                  <a:pt x="182399" y="128194"/>
                </a:cubicBezTo>
                <a:cubicBezTo>
                  <a:pt x="187044" y="114300"/>
                  <a:pt x="186837" y="100946"/>
                  <a:pt x="182399" y="83154"/>
                </a:cubicBezTo>
                <a:close/>
                <a:moveTo>
                  <a:pt x="118696" y="184431"/>
                </a:moveTo>
                <a:cubicBezTo>
                  <a:pt x="115540" y="184652"/>
                  <a:pt x="112524" y="183094"/>
                  <a:pt x="110878" y="180391"/>
                </a:cubicBezTo>
                <a:cubicBezTo>
                  <a:pt x="109232" y="177689"/>
                  <a:pt x="109232" y="174294"/>
                  <a:pt x="110878" y="171591"/>
                </a:cubicBezTo>
                <a:cubicBezTo>
                  <a:pt x="112524" y="168889"/>
                  <a:pt x="115540" y="167330"/>
                  <a:pt x="118696" y="167552"/>
                </a:cubicBezTo>
                <a:cubicBezTo>
                  <a:pt x="121853" y="167330"/>
                  <a:pt x="124869" y="168889"/>
                  <a:pt x="126514" y="171591"/>
                </a:cubicBezTo>
                <a:cubicBezTo>
                  <a:pt x="128160" y="174294"/>
                  <a:pt x="128160" y="177689"/>
                  <a:pt x="126514" y="180391"/>
                </a:cubicBezTo>
                <a:cubicBezTo>
                  <a:pt x="124869" y="183094"/>
                  <a:pt x="121853" y="184652"/>
                  <a:pt x="118696" y="184431"/>
                </a:cubicBezTo>
                <a:close/>
                <a:moveTo>
                  <a:pt x="69592" y="102895"/>
                </a:moveTo>
                <a:lnTo>
                  <a:pt x="113885" y="102895"/>
                </a:lnTo>
                <a:cubicBezTo>
                  <a:pt x="126203" y="102895"/>
                  <a:pt x="136032" y="92734"/>
                  <a:pt x="136032" y="80375"/>
                </a:cubicBezTo>
                <a:lnTo>
                  <a:pt x="136032" y="38114"/>
                </a:lnTo>
                <a:cubicBezTo>
                  <a:pt x="136032" y="26087"/>
                  <a:pt x="125912" y="17087"/>
                  <a:pt x="113885" y="15055"/>
                </a:cubicBezTo>
                <a:cubicBezTo>
                  <a:pt x="99038" y="12608"/>
                  <a:pt x="82905" y="12732"/>
                  <a:pt x="69592" y="15096"/>
                </a:cubicBezTo>
                <a:cubicBezTo>
                  <a:pt x="50846" y="18414"/>
                  <a:pt x="47445" y="25340"/>
                  <a:pt x="47445" y="38155"/>
                </a:cubicBezTo>
                <a:lnTo>
                  <a:pt x="47445" y="55035"/>
                </a:lnTo>
                <a:lnTo>
                  <a:pt x="91780" y="55035"/>
                </a:lnTo>
                <a:lnTo>
                  <a:pt x="91780" y="60675"/>
                </a:lnTo>
                <a:lnTo>
                  <a:pt x="30815" y="60675"/>
                </a:lnTo>
                <a:cubicBezTo>
                  <a:pt x="17916" y="60675"/>
                  <a:pt x="6636" y="68431"/>
                  <a:pt x="3110" y="83154"/>
                </a:cubicBezTo>
                <a:cubicBezTo>
                  <a:pt x="-954" y="100033"/>
                  <a:pt x="-1120" y="110567"/>
                  <a:pt x="3110" y="128194"/>
                </a:cubicBezTo>
                <a:cubicBezTo>
                  <a:pt x="6262" y="141299"/>
                  <a:pt x="13769" y="150672"/>
                  <a:pt x="26667" y="150672"/>
                </a:cubicBezTo>
                <a:lnTo>
                  <a:pt x="41888" y="150672"/>
                </a:lnTo>
                <a:lnTo>
                  <a:pt x="41888" y="130433"/>
                </a:lnTo>
                <a:cubicBezTo>
                  <a:pt x="41888" y="115793"/>
                  <a:pt x="54537" y="102895"/>
                  <a:pt x="69592" y="102895"/>
                </a:cubicBezTo>
                <a:close/>
                <a:moveTo>
                  <a:pt x="66855" y="26833"/>
                </a:moveTo>
                <a:cubicBezTo>
                  <a:pt x="71524" y="26833"/>
                  <a:pt x="75315" y="30624"/>
                  <a:pt x="75315" y="35294"/>
                </a:cubicBezTo>
                <a:cubicBezTo>
                  <a:pt x="75315" y="39963"/>
                  <a:pt x="71524" y="43754"/>
                  <a:pt x="66855" y="43754"/>
                </a:cubicBezTo>
                <a:cubicBezTo>
                  <a:pt x="62185" y="43754"/>
                  <a:pt x="58394" y="39963"/>
                  <a:pt x="58394" y="35294"/>
                </a:cubicBezTo>
                <a:cubicBezTo>
                  <a:pt x="58394" y="30624"/>
                  <a:pt x="62185" y="26833"/>
                  <a:pt x="66855" y="2683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1174962" y="3754925"/>
            <a:ext cx="1185579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4962" y="4037936"/>
            <a:ext cx="1150189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 Notebook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7934" y="4391953"/>
            <a:ext cx="5370496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transformation and validation engine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cross-platform verification.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1020" y="4798942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785667" y="4763552"/>
            <a:ext cx="1946473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pymysql connector integration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1020" y="5082066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785667" y="5046675"/>
            <a:ext cx="1327141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result validation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1020" y="5365189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785667" y="5329799"/>
            <a:ext cx="2096882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and transformation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9325" y="1277594"/>
            <a:ext cx="5660698" cy="2148199"/>
          </a:xfrm>
          <a:custGeom>
            <a:avLst/>
            <a:gdLst/>
            <a:ahLst/>
            <a:cxnLst/>
            <a:rect l="l" t="t" r="r" b="b"/>
            <a:pathLst>
              <a:path w="5660698" h="2148199">
                <a:moveTo>
                  <a:pt x="106164" y="0"/>
                </a:moveTo>
                <a:lnTo>
                  <a:pt x="5554534" y="0"/>
                </a:lnTo>
                <a:cubicBezTo>
                  <a:pt x="5613167" y="0"/>
                  <a:pt x="5660698" y="47531"/>
                  <a:pt x="5660698" y="106164"/>
                </a:cubicBezTo>
                <a:lnTo>
                  <a:pt x="5660698" y="2042035"/>
                </a:lnTo>
                <a:cubicBezTo>
                  <a:pt x="5660698" y="2100667"/>
                  <a:pt x="5613167" y="2148199"/>
                  <a:pt x="5554534" y="2148199"/>
                </a:cubicBezTo>
                <a:lnTo>
                  <a:pt x="106164" y="2148199"/>
                </a:lnTo>
                <a:cubicBezTo>
                  <a:pt x="47531" y="2148199"/>
                  <a:pt x="0" y="2100667"/>
                  <a:pt x="0" y="2042035"/>
                </a:cubicBezTo>
                <a:lnTo>
                  <a:pt x="0" y="106164"/>
                </a:lnTo>
                <a:cubicBezTo>
                  <a:pt x="0" y="47531"/>
                  <a:pt x="47531" y="0"/>
                  <a:pt x="10616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9816" y="1458086"/>
            <a:ext cx="495466" cy="495466"/>
          </a:xfrm>
          <a:custGeom>
            <a:avLst/>
            <a:gdLst/>
            <a:ahLst/>
            <a:cxnLst/>
            <a:rect l="l" t="t" r="r" b="b"/>
            <a:pathLst>
              <a:path w="495466" h="495466">
                <a:moveTo>
                  <a:pt x="106173" y="0"/>
                </a:moveTo>
                <a:lnTo>
                  <a:pt x="389293" y="0"/>
                </a:lnTo>
                <a:cubicBezTo>
                  <a:pt x="447930" y="0"/>
                  <a:pt x="495466" y="47535"/>
                  <a:pt x="495466" y="106173"/>
                </a:cubicBezTo>
                <a:lnTo>
                  <a:pt x="495466" y="389293"/>
                </a:lnTo>
                <a:cubicBezTo>
                  <a:pt x="495466" y="447930"/>
                  <a:pt x="447930" y="495466"/>
                  <a:pt x="389293" y="495466"/>
                </a:cubicBezTo>
                <a:lnTo>
                  <a:pt x="106173" y="495466"/>
                </a:lnTo>
                <a:cubicBezTo>
                  <a:pt x="47535" y="495466"/>
                  <a:pt x="0" y="447930"/>
                  <a:pt x="0" y="389293"/>
                </a:cubicBezTo>
                <a:lnTo>
                  <a:pt x="0" y="106173"/>
                </a:lnTo>
                <a:cubicBezTo>
                  <a:pt x="0" y="47575"/>
                  <a:pt x="47575" y="0"/>
                  <a:pt x="10617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78106" y="1599647"/>
            <a:ext cx="238885" cy="212343"/>
          </a:xfrm>
          <a:custGeom>
            <a:avLst/>
            <a:gdLst/>
            <a:ahLst/>
            <a:cxnLst/>
            <a:rect l="l" t="t" r="r" b="b"/>
            <a:pathLst>
              <a:path w="238885" h="212343">
                <a:moveTo>
                  <a:pt x="212508" y="99536"/>
                </a:moveTo>
                <a:lnTo>
                  <a:pt x="139516" y="99536"/>
                </a:lnTo>
                <a:cubicBezTo>
                  <a:pt x="132175" y="99536"/>
                  <a:pt x="126244" y="93605"/>
                  <a:pt x="126244" y="86264"/>
                </a:cubicBezTo>
                <a:lnTo>
                  <a:pt x="126244" y="13271"/>
                </a:lnTo>
                <a:cubicBezTo>
                  <a:pt x="126244" y="5931"/>
                  <a:pt x="132216" y="-83"/>
                  <a:pt x="139474" y="871"/>
                </a:cubicBezTo>
                <a:cubicBezTo>
                  <a:pt x="183850" y="6760"/>
                  <a:pt x="219020" y="41929"/>
                  <a:pt x="224909" y="86306"/>
                </a:cubicBezTo>
                <a:cubicBezTo>
                  <a:pt x="225863" y="93563"/>
                  <a:pt x="219849" y="99536"/>
                  <a:pt x="212508" y="99536"/>
                </a:cubicBezTo>
                <a:close/>
                <a:moveTo>
                  <a:pt x="92319" y="15428"/>
                </a:moveTo>
                <a:cubicBezTo>
                  <a:pt x="99826" y="13852"/>
                  <a:pt x="106337" y="19990"/>
                  <a:pt x="106337" y="27663"/>
                </a:cubicBezTo>
                <a:lnTo>
                  <a:pt x="106337" y="109489"/>
                </a:lnTo>
                <a:cubicBezTo>
                  <a:pt x="106337" y="111812"/>
                  <a:pt x="107167" y="114051"/>
                  <a:pt x="108618" y="115835"/>
                </a:cubicBezTo>
                <a:lnTo>
                  <a:pt x="163404" y="181943"/>
                </a:lnTo>
                <a:cubicBezTo>
                  <a:pt x="168257" y="187790"/>
                  <a:pt x="167220" y="196624"/>
                  <a:pt x="160543" y="200232"/>
                </a:cubicBezTo>
                <a:cubicBezTo>
                  <a:pt x="146400" y="207946"/>
                  <a:pt x="130184" y="212343"/>
                  <a:pt x="112973" y="212343"/>
                </a:cubicBezTo>
                <a:cubicBezTo>
                  <a:pt x="58021" y="212343"/>
                  <a:pt x="13437" y="167759"/>
                  <a:pt x="13437" y="112807"/>
                </a:cubicBezTo>
                <a:cubicBezTo>
                  <a:pt x="13437" y="64905"/>
                  <a:pt x="47238" y="24925"/>
                  <a:pt x="92319" y="15428"/>
                </a:cubicBezTo>
                <a:close/>
                <a:moveTo>
                  <a:pt x="198159" y="119443"/>
                </a:moveTo>
                <a:lnTo>
                  <a:pt x="224702" y="119443"/>
                </a:lnTo>
                <a:cubicBezTo>
                  <a:pt x="232374" y="119443"/>
                  <a:pt x="238512" y="125954"/>
                  <a:pt x="236936" y="133461"/>
                </a:cubicBezTo>
                <a:cubicBezTo>
                  <a:pt x="232706" y="153534"/>
                  <a:pt x="222421" y="171367"/>
                  <a:pt x="208071" y="184970"/>
                </a:cubicBezTo>
                <a:cubicBezTo>
                  <a:pt x="202970" y="189823"/>
                  <a:pt x="194965" y="188786"/>
                  <a:pt x="190486" y="183353"/>
                </a:cubicBezTo>
                <a:lnTo>
                  <a:pt x="155483" y="141175"/>
                </a:lnTo>
                <a:cubicBezTo>
                  <a:pt x="148308" y="132507"/>
                  <a:pt x="154487" y="119443"/>
                  <a:pt x="165685" y="119443"/>
                </a:cubicBezTo>
                <a:lnTo>
                  <a:pt x="198117" y="11944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6986843" y="1458086"/>
            <a:ext cx="1362531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86843" y="1741099"/>
            <a:ext cx="1327141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49816" y="2095113"/>
            <a:ext cx="5370496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dashboard creation and interactive reporting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platform for stakeholder insights.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2901" y="2502103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597549" y="2466713"/>
            <a:ext cx="1557179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visualizations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2901" y="2785227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597549" y="2749836"/>
            <a:ext cx="1389074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cards and metrics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2901" y="3068350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6597549" y="3032960"/>
            <a:ext cx="1672197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filters and slicers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69325" y="3574433"/>
            <a:ext cx="5660698" cy="2148199"/>
          </a:xfrm>
          <a:custGeom>
            <a:avLst/>
            <a:gdLst/>
            <a:ahLst/>
            <a:cxnLst/>
            <a:rect l="l" t="t" r="r" b="b"/>
            <a:pathLst>
              <a:path w="5660698" h="2148199">
                <a:moveTo>
                  <a:pt x="106164" y="0"/>
                </a:moveTo>
                <a:lnTo>
                  <a:pt x="5554534" y="0"/>
                </a:lnTo>
                <a:cubicBezTo>
                  <a:pt x="5613167" y="0"/>
                  <a:pt x="5660698" y="47531"/>
                  <a:pt x="5660698" y="106164"/>
                </a:cubicBezTo>
                <a:lnTo>
                  <a:pt x="5660698" y="2042035"/>
                </a:lnTo>
                <a:cubicBezTo>
                  <a:pt x="5660698" y="2100667"/>
                  <a:pt x="5613167" y="2148199"/>
                  <a:pt x="5554534" y="2148199"/>
                </a:cubicBezTo>
                <a:lnTo>
                  <a:pt x="106164" y="2148199"/>
                </a:lnTo>
                <a:cubicBezTo>
                  <a:pt x="47531" y="2148199"/>
                  <a:pt x="0" y="2100667"/>
                  <a:pt x="0" y="2042035"/>
                </a:cubicBezTo>
                <a:lnTo>
                  <a:pt x="0" y="106164"/>
                </a:lnTo>
                <a:cubicBezTo>
                  <a:pt x="0" y="47531"/>
                  <a:pt x="47531" y="0"/>
                  <a:pt x="10616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49816" y="3754925"/>
            <a:ext cx="495466" cy="495466"/>
          </a:xfrm>
          <a:custGeom>
            <a:avLst/>
            <a:gdLst/>
            <a:ahLst/>
            <a:cxnLst/>
            <a:rect l="l" t="t" r="r" b="b"/>
            <a:pathLst>
              <a:path w="495466" h="495466">
                <a:moveTo>
                  <a:pt x="106173" y="0"/>
                </a:moveTo>
                <a:lnTo>
                  <a:pt x="389293" y="0"/>
                </a:lnTo>
                <a:cubicBezTo>
                  <a:pt x="447930" y="0"/>
                  <a:pt x="495466" y="47535"/>
                  <a:pt x="495466" y="106173"/>
                </a:cubicBezTo>
                <a:lnTo>
                  <a:pt x="495466" y="389293"/>
                </a:lnTo>
                <a:cubicBezTo>
                  <a:pt x="495466" y="447930"/>
                  <a:pt x="447930" y="495466"/>
                  <a:pt x="389293" y="495466"/>
                </a:cubicBezTo>
                <a:lnTo>
                  <a:pt x="106173" y="495466"/>
                </a:lnTo>
                <a:cubicBezTo>
                  <a:pt x="47535" y="495466"/>
                  <a:pt x="0" y="447930"/>
                  <a:pt x="0" y="389293"/>
                </a:cubicBezTo>
                <a:lnTo>
                  <a:pt x="0" y="106173"/>
                </a:lnTo>
                <a:cubicBezTo>
                  <a:pt x="0" y="47575"/>
                  <a:pt x="47575" y="0"/>
                  <a:pt x="106173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8106" y="3896487"/>
            <a:ext cx="238885" cy="212343"/>
          </a:xfrm>
          <a:custGeom>
            <a:avLst/>
            <a:gdLst/>
            <a:ahLst/>
            <a:cxnLst/>
            <a:rect l="l" t="t" r="r" b="b"/>
            <a:pathLst>
              <a:path w="238885" h="212343">
                <a:moveTo>
                  <a:pt x="39814" y="0"/>
                </a:moveTo>
                <a:cubicBezTo>
                  <a:pt x="25174" y="0"/>
                  <a:pt x="13271" y="11903"/>
                  <a:pt x="13271" y="26543"/>
                </a:cubicBezTo>
                <a:lnTo>
                  <a:pt x="13271" y="185800"/>
                </a:lnTo>
                <a:cubicBezTo>
                  <a:pt x="13271" y="200440"/>
                  <a:pt x="25174" y="212343"/>
                  <a:pt x="39814" y="212343"/>
                </a:cubicBezTo>
                <a:lnTo>
                  <a:pt x="72993" y="212343"/>
                </a:lnTo>
                <a:lnTo>
                  <a:pt x="72993" y="165893"/>
                </a:lnTo>
                <a:cubicBezTo>
                  <a:pt x="72993" y="151253"/>
                  <a:pt x="84896" y="139350"/>
                  <a:pt x="99536" y="139350"/>
                </a:cubicBezTo>
                <a:lnTo>
                  <a:pt x="172528" y="139350"/>
                </a:lnTo>
                <a:lnTo>
                  <a:pt x="172528" y="70712"/>
                </a:lnTo>
                <a:cubicBezTo>
                  <a:pt x="172528" y="63661"/>
                  <a:pt x="169750" y="56901"/>
                  <a:pt x="164773" y="51924"/>
                </a:cubicBezTo>
                <a:lnTo>
                  <a:pt x="120562" y="7755"/>
                </a:lnTo>
                <a:cubicBezTo>
                  <a:pt x="115586" y="2779"/>
                  <a:pt x="108867" y="0"/>
                  <a:pt x="101817" y="0"/>
                </a:cubicBezTo>
                <a:lnTo>
                  <a:pt x="39814" y="0"/>
                </a:lnTo>
                <a:close/>
                <a:moveTo>
                  <a:pt x="148267" y="72993"/>
                </a:moveTo>
                <a:lnTo>
                  <a:pt x="109489" y="72993"/>
                </a:lnTo>
                <a:cubicBezTo>
                  <a:pt x="103973" y="72993"/>
                  <a:pt x="99536" y="68555"/>
                  <a:pt x="99536" y="63039"/>
                </a:cubicBezTo>
                <a:lnTo>
                  <a:pt x="99536" y="24262"/>
                </a:lnTo>
                <a:lnTo>
                  <a:pt x="148267" y="72993"/>
                </a:lnTo>
                <a:close/>
                <a:moveTo>
                  <a:pt x="109489" y="157598"/>
                </a:moveTo>
                <a:cubicBezTo>
                  <a:pt x="99411" y="157598"/>
                  <a:pt x="91241" y="165768"/>
                  <a:pt x="91241" y="175846"/>
                </a:cubicBezTo>
                <a:lnTo>
                  <a:pt x="91241" y="209025"/>
                </a:lnTo>
                <a:cubicBezTo>
                  <a:pt x="91241" y="219103"/>
                  <a:pt x="99411" y="227273"/>
                  <a:pt x="109489" y="227273"/>
                </a:cubicBezTo>
                <a:lnTo>
                  <a:pt x="116125" y="227273"/>
                </a:lnTo>
                <a:cubicBezTo>
                  <a:pt x="126203" y="227273"/>
                  <a:pt x="134373" y="219103"/>
                  <a:pt x="134373" y="209025"/>
                </a:cubicBezTo>
                <a:lnTo>
                  <a:pt x="134373" y="205707"/>
                </a:lnTo>
                <a:cubicBezTo>
                  <a:pt x="134373" y="201145"/>
                  <a:pt x="130640" y="197412"/>
                  <a:pt x="126078" y="197412"/>
                </a:cubicBezTo>
                <a:cubicBezTo>
                  <a:pt x="121516" y="197412"/>
                  <a:pt x="117784" y="201145"/>
                  <a:pt x="117784" y="205707"/>
                </a:cubicBezTo>
                <a:lnTo>
                  <a:pt x="117784" y="209025"/>
                </a:lnTo>
                <a:cubicBezTo>
                  <a:pt x="117784" y="209937"/>
                  <a:pt x="117037" y="210684"/>
                  <a:pt x="116125" y="210684"/>
                </a:cubicBezTo>
                <a:lnTo>
                  <a:pt x="109489" y="210684"/>
                </a:lnTo>
                <a:cubicBezTo>
                  <a:pt x="108577" y="210684"/>
                  <a:pt x="107830" y="209937"/>
                  <a:pt x="107830" y="209025"/>
                </a:cubicBezTo>
                <a:lnTo>
                  <a:pt x="107830" y="175846"/>
                </a:lnTo>
                <a:cubicBezTo>
                  <a:pt x="107830" y="174934"/>
                  <a:pt x="108577" y="174187"/>
                  <a:pt x="109489" y="174187"/>
                </a:cubicBezTo>
                <a:lnTo>
                  <a:pt x="116125" y="174187"/>
                </a:lnTo>
                <a:cubicBezTo>
                  <a:pt x="117037" y="174187"/>
                  <a:pt x="117784" y="174934"/>
                  <a:pt x="117784" y="175846"/>
                </a:cubicBezTo>
                <a:lnTo>
                  <a:pt x="117784" y="179164"/>
                </a:lnTo>
                <a:cubicBezTo>
                  <a:pt x="117784" y="183726"/>
                  <a:pt x="121516" y="187459"/>
                  <a:pt x="126078" y="187459"/>
                </a:cubicBezTo>
                <a:cubicBezTo>
                  <a:pt x="130640" y="187459"/>
                  <a:pt x="134373" y="183726"/>
                  <a:pt x="134373" y="179164"/>
                </a:cubicBezTo>
                <a:lnTo>
                  <a:pt x="134373" y="175846"/>
                </a:lnTo>
                <a:cubicBezTo>
                  <a:pt x="134373" y="165768"/>
                  <a:pt x="126203" y="157598"/>
                  <a:pt x="116125" y="157598"/>
                </a:cubicBezTo>
                <a:lnTo>
                  <a:pt x="109489" y="157598"/>
                </a:lnTo>
                <a:close/>
                <a:moveTo>
                  <a:pt x="165893" y="157598"/>
                </a:moveTo>
                <a:cubicBezTo>
                  <a:pt x="153990" y="157598"/>
                  <a:pt x="144327" y="167261"/>
                  <a:pt x="144327" y="179164"/>
                </a:cubicBezTo>
                <a:cubicBezTo>
                  <a:pt x="144327" y="191067"/>
                  <a:pt x="153990" y="200730"/>
                  <a:pt x="165893" y="200730"/>
                </a:cubicBezTo>
                <a:cubicBezTo>
                  <a:pt x="168630" y="200730"/>
                  <a:pt x="170869" y="202970"/>
                  <a:pt x="170869" y="205707"/>
                </a:cubicBezTo>
                <a:cubicBezTo>
                  <a:pt x="170869" y="208444"/>
                  <a:pt x="168630" y="210684"/>
                  <a:pt x="165893" y="210684"/>
                </a:cubicBezTo>
                <a:lnTo>
                  <a:pt x="152621" y="210684"/>
                </a:lnTo>
                <a:cubicBezTo>
                  <a:pt x="148059" y="210684"/>
                  <a:pt x="144327" y="214416"/>
                  <a:pt x="144327" y="218978"/>
                </a:cubicBezTo>
                <a:cubicBezTo>
                  <a:pt x="144327" y="223540"/>
                  <a:pt x="148059" y="227273"/>
                  <a:pt x="152621" y="227273"/>
                </a:cubicBezTo>
                <a:lnTo>
                  <a:pt x="165893" y="227273"/>
                </a:lnTo>
                <a:cubicBezTo>
                  <a:pt x="177795" y="227273"/>
                  <a:pt x="187459" y="217610"/>
                  <a:pt x="187459" y="205707"/>
                </a:cubicBezTo>
                <a:cubicBezTo>
                  <a:pt x="187459" y="193804"/>
                  <a:pt x="177795" y="184141"/>
                  <a:pt x="165893" y="184141"/>
                </a:cubicBezTo>
                <a:cubicBezTo>
                  <a:pt x="163155" y="184141"/>
                  <a:pt x="160916" y="181901"/>
                  <a:pt x="160916" y="179164"/>
                </a:cubicBezTo>
                <a:cubicBezTo>
                  <a:pt x="160916" y="176427"/>
                  <a:pt x="163155" y="174187"/>
                  <a:pt x="165893" y="174187"/>
                </a:cubicBezTo>
                <a:lnTo>
                  <a:pt x="175846" y="174187"/>
                </a:lnTo>
                <a:cubicBezTo>
                  <a:pt x="180408" y="174187"/>
                  <a:pt x="184141" y="170455"/>
                  <a:pt x="184141" y="165893"/>
                </a:cubicBezTo>
                <a:cubicBezTo>
                  <a:pt x="184141" y="161331"/>
                  <a:pt x="180408" y="157598"/>
                  <a:pt x="175846" y="157598"/>
                </a:cubicBezTo>
                <a:lnTo>
                  <a:pt x="165893" y="157598"/>
                </a:lnTo>
                <a:close/>
                <a:moveTo>
                  <a:pt x="205707" y="157598"/>
                </a:moveTo>
                <a:cubicBezTo>
                  <a:pt x="201145" y="157598"/>
                  <a:pt x="197412" y="161331"/>
                  <a:pt x="197412" y="165893"/>
                </a:cubicBezTo>
                <a:lnTo>
                  <a:pt x="197412" y="178998"/>
                </a:lnTo>
                <a:cubicBezTo>
                  <a:pt x="197412" y="193721"/>
                  <a:pt x="201767" y="208154"/>
                  <a:pt x="209937" y="220388"/>
                </a:cubicBezTo>
                <a:lnTo>
                  <a:pt x="212052" y="223582"/>
                </a:lnTo>
                <a:cubicBezTo>
                  <a:pt x="213587" y="225904"/>
                  <a:pt x="216200" y="227273"/>
                  <a:pt x="218937" y="227273"/>
                </a:cubicBezTo>
                <a:cubicBezTo>
                  <a:pt x="221674" y="227273"/>
                  <a:pt x="224287" y="225904"/>
                  <a:pt x="225821" y="223582"/>
                </a:cubicBezTo>
                <a:lnTo>
                  <a:pt x="227936" y="220388"/>
                </a:lnTo>
                <a:cubicBezTo>
                  <a:pt x="236107" y="208112"/>
                  <a:pt x="240461" y="193721"/>
                  <a:pt x="240461" y="178998"/>
                </a:cubicBezTo>
                <a:lnTo>
                  <a:pt x="240461" y="165893"/>
                </a:lnTo>
                <a:cubicBezTo>
                  <a:pt x="240461" y="161331"/>
                  <a:pt x="236729" y="157598"/>
                  <a:pt x="232167" y="157598"/>
                </a:cubicBezTo>
                <a:cubicBezTo>
                  <a:pt x="227605" y="157598"/>
                  <a:pt x="223872" y="161331"/>
                  <a:pt x="223872" y="165893"/>
                </a:cubicBezTo>
                <a:lnTo>
                  <a:pt x="223872" y="178998"/>
                </a:lnTo>
                <a:cubicBezTo>
                  <a:pt x="223872" y="187127"/>
                  <a:pt x="222172" y="195131"/>
                  <a:pt x="218895" y="202513"/>
                </a:cubicBezTo>
                <a:cubicBezTo>
                  <a:pt x="215619" y="195131"/>
                  <a:pt x="213919" y="187127"/>
                  <a:pt x="213919" y="178998"/>
                </a:cubicBezTo>
                <a:lnTo>
                  <a:pt x="213919" y="165893"/>
                </a:lnTo>
                <a:cubicBezTo>
                  <a:pt x="213919" y="161331"/>
                  <a:pt x="210186" y="157598"/>
                  <a:pt x="205624" y="15759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4" name="Text 42"/>
          <p:cNvSpPr/>
          <p:nvPr/>
        </p:nvSpPr>
        <p:spPr>
          <a:xfrm>
            <a:off x="6986843" y="3754925"/>
            <a:ext cx="902456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CSV File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86843" y="4037936"/>
            <a:ext cx="867065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Data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49816" y="4391953"/>
            <a:ext cx="5370496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 source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containing 103,728 trip records for analysis.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2901" y="4798942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8" name="Text 46"/>
          <p:cNvSpPr/>
          <p:nvPr/>
        </p:nvSpPr>
        <p:spPr>
          <a:xfrm>
            <a:off x="6597549" y="4763552"/>
            <a:ext cx="1265208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trip data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2901" y="5082066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0" name="Text 48"/>
          <p:cNvSpPr/>
          <p:nvPr/>
        </p:nvSpPr>
        <p:spPr>
          <a:xfrm>
            <a:off x="6597549" y="5046675"/>
            <a:ext cx="1468702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 mapping data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02901" y="5365189"/>
            <a:ext cx="70781" cy="141562"/>
          </a:xfrm>
          <a:custGeom>
            <a:avLst/>
            <a:gdLst/>
            <a:ahLst/>
            <a:cxnLst/>
            <a:rect l="l" t="t" r="r" b="b"/>
            <a:pathLst>
              <a:path w="70781" h="141562">
                <a:moveTo>
                  <a:pt x="8986" y="26543"/>
                </a:moveTo>
                <a:cubicBezTo>
                  <a:pt x="8986" y="22976"/>
                  <a:pt x="11142" y="19741"/>
                  <a:pt x="14460" y="18359"/>
                </a:cubicBezTo>
                <a:cubicBezTo>
                  <a:pt x="17778" y="16976"/>
                  <a:pt x="21566" y="17751"/>
                  <a:pt x="24082" y="20294"/>
                </a:cubicBezTo>
                <a:lnTo>
                  <a:pt x="68320" y="64532"/>
                </a:lnTo>
                <a:cubicBezTo>
                  <a:pt x="71776" y="67988"/>
                  <a:pt x="71776" y="73601"/>
                  <a:pt x="68320" y="77057"/>
                </a:cubicBezTo>
                <a:lnTo>
                  <a:pt x="24082" y="121295"/>
                </a:lnTo>
                <a:cubicBezTo>
                  <a:pt x="21538" y="123839"/>
                  <a:pt x="17751" y="124585"/>
                  <a:pt x="14433" y="123203"/>
                </a:cubicBezTo>
                <a:cubicBezTo>
                  <a:pt x="11115" y="121820"/>
                  <a:pt x="8986" y="118586"/>
                  <a:pt x="8986" y="115019"/>
                </a:cubicBezTo>
                <a:lnTo>
                  <a:pt x="8986" y="2654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2" name="Text 50"/>
          <p:cNvSpPr/>
          <p:nvPr/>
        </p:nvSpPr>
        <p:spPr>
          <a:xfrm>
            <a:off x="6597549" y="5329799"/>
            <a:ext cx="1150189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records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57443" y="5871270"/>
            <a:ext cx="11473574" cy="750277"/>
          </a:xfrm>
          <a:custGeom>
            <a:avLst/>
            <a:gdLst/>
            <a:ahLst/>
            <a:cxnLst/>
            <a:rect l="l" t="t" r="r" b="b"/>
            <a:pathLst>
              <a:path w="11473574" h="750277">
                <a:moveTo>
                  <a:pt x="106172" y="0"/>
                </a:moveTo>
                <a:lnTo>
                  <a:pt x="11367403" y="0"/>
                </a:lnTo>
                <a:cubicBezTo>
                  <a:pt x="11426040" y="0"/>
                  <a:pt x="11473574" y="47535"/>
                  <a:pt x="11473574" y="106172"/>
                </a:cubicBezTo>
                <a:lnTo>
                  <a:pt x="11473574" y="644105"/>
                </a:lnTo>
                <a:cubicBezTo>
                  <a:pt x="11473574" y="702703"/>
                  <a:pt x="11426001" y="750277"/>
                  <a:pt x="11367403" y="750277"/>
                </a:cubicBezTo>
                <a:lnTo>
                  <a:pt x="106172" y="750277"/>
                </a:lnTo>
                <a:cubicBezTo>
                  <a:pt x="47535" y="750277"/>
                  <a:pt x="0" y="702742"/>
                  <a:pt x="0" y="644105"/>
                </a:cubicBezTo>
                <a:lnTo>
                  <a:pt x="0" y="106172"/>
                </a:lnTo>
                <a:cubicBezTo>
                  <a:pt x="0" y="47574"/>
                  <a:pt x="47574" y="0"/>
                  <a:pt x="10617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9087" y="6140128"/>
            <a:ext cx="212343" cy="212343"/>
          </a:xfrm>
          <a:custGeom>
            <a:avLst/>
            <a:gdLst/>
            <a:ahLst/>
            <a:cxnLst/>
            <a:rect l="l" t="t" r="r" b="b"/>
            <a:pathLst>
              <a:path w="212343" h="212343">
                <a:moveTo>
                  <a:pt x="0" y="33179"/>
                </a:moveTo>
                <a:cubicBezTo>
                  <a:pt x="0" y="22188"/>
                  <a:pt x="8917" y="13271"/>
                  <a:pt x="19907" y="13271"/>
                </a:cubicBezTo>
                <a:lnTo>
                  <a:pt x="59721" y="13271"/>
                </a:lnTo>
                <a:cubicBezTo>
                  <a:pt x="70712" y="13271"/>
                  <a:pt x="79628" y="22188"/>
                  <a:pt x="79628" y="33179"/>
                </a:cubicBezTo>
                <a:lnTo>
                  <a:pt x="79628" y="39814"/>
                </a:lnTo>
                <a:lnTo>
                  <a:pt x="132714" y="39814"/>
                </a:lnTo>
                <a:lnTo>
                  <a:pt x="132714" y="33179"/>
                </a:lnTo>
                <a:cubicBezTo>
                  <a:pt x="132714" y="22188"/>
                  <a:pt x="141631" y="13271"/>
                  <a:pt x="152621" y="13271"/>
                </a:cubicBezTo>
                <a:lnTo>
                  <a:pt x="192435" y="13271"/>
                </a:lnTo>
                <a:cubicBezTo>
                  <a:pt x="203426" y="13271"/>
                  <a:pt x="212343" y="22188"/>
                  <a:pt x="212343" y="33179"/>
                </a:cubicBezTo>
                <a:lnTo>
                  <a:pt x="212343" y="72993"/>
                </a:lnTo>
                <a:cubicBezTo>
                  <a:pt x="212343" y="83983"/>
                  <a:pt x="203426" y="92900"/>
                  <a:pt x="192435" y="92900"/>
                </a:cubicBezTo>
                <a:lnTo>
                  <a:pt x="152621" y="92900"/>
                </a:lnTo>
                <a:cubicBezTo>
                  <a:pt x="141631" y="92900"/>
                  <a:pt x="132714" y="83983"/>
                  <a:pt x="132714" y="72993"/>
                </a:cubicBezTo>
                <a:lnTo>
                  <a:pt x="132714" y="66357"/>
                </a:lnTo>
                <a:lnTo>
                  <a:pt x="79628" y="66357"/>
                </a:lnTo>
                <a:lnTo>
                  <a:pt x="79628" y="72993"/>
                </a:lnTo>
                <a:cubicBezTo>
                  <a:pt x="79628" y="76020"/>
                  <a:pt x="78923" y="78923"/>
                  <a:pt x="77721" y="81495"/>
                </a:cubicBezTo>
                <a:lnTo>
                  <a:pt x="106171" y="119443"/>
                </a:lnTo>
                <a:lnTo>
                  <a:pt x="139350" y="119443"/>
                </a:lnTo>
                <a:cubicBezTo>
                  <a:pt x="150340" y="119443"/>
                  <a:pt x="159257" y="128359"/>
                  <a:pt x="159257" y="139350"/>
                </a:cubicBezTo>
                <a:lnTo>
                  <a:pt x="159257" y="179164"/>
                </a:lnTo>
                <a:cubicBezTo>
                  <a:pt x="159257" y="190154"/>
                  <a:pt x="150340" y="199071"/>
                  <a:pt x="139350" y="199071"/>
                </a:cubicBezTo>
                <a:lnTo>
                  <a:pt x="99536" y="199071"/>
                </a:lnTo>
                <a:cubicBezTo>
                  <a:pt x="88545" y="199071"/>
                  <a:pt x="79628" y="190154"/>
                  <a:pt x="79628" y="179164"/>
                </a:cubicBezTo>
                <a:lnTo>
                  <a:pt x="79628" y="139350"/>
                </a:lnTo>
                <a:cubicBezTo>
                  <a:pt x="79628" y="136322"/>
                  <a:pt x="80333" y="133419"/>
                  <a:pt x="81536" y="130848"/>
                </a:cubicBezTo>
                <a:lnTo>
                  <a:pt x="53086" y="92900"/>
                </a:lnTo>
                <a:lnTo>
                  <a:pt x="19907" y="92900"/>
                </a:lnTo>
                <a:cubicBezTo>
                  <a:pt x="8917" y="92900"/>
                  <a:pt x="0" y="83983"/>
                  <a:pt x="0" y="72993"/>
                </a:cubicBezTo>
                <a:lnTo>
                  <a:pt x="0" y="3317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Text 53"/>
          <p:cNvSpPr/>
          <p:nvPr/>
        </p:nvSpPr>
        <p:spPr>
          <a:xfrm>
            <a:off x="909534" y="6140128"/>
            <a:ext cx="4795402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Flow:</a:t>
            </a:r>
            <a:pPr>
              <a:lnSpc>
                <a:spcPct val="130000"/>
              </a:lnSpc>
            </a:pPr>
            <a:r>
              <a:rPr lang="en-US" sz="111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CSV → MySQL → Python Validation → Power BI Dashboard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995472" y="6016372"/>
            <a:ext cx="398142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017591" y="6299385"/>
            <a:ext cx="353904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497020" y="6016372"/>
            <a:ext cx="610485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519139" y="6299385"/>
            <a:ext cx="566247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216552" y="6016372"/>
            <a:ext cx="522009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38671" y="6299385"/>
            <a:ext cx="477771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752600"/>
            <a:ext cx="2729865" cy="3377565"/>
          </a:xfrm>
          <a:custGeom>
            <a:avLst/>
            <a:gdLst/>
            <a:ahLst/>
            <a:cxnLst/>
            <a:rect l="l" t="t" r="r" b="b"/>
            <a:pathLst>
              <a:path w="2729865" h="3377565">
                <a:moveTo>
                  <a:pt x="114299" y="0"/>
                </a:moveTo>
                <a:lnTo>
                  <a:pt x="2615566" y="0"/>
                </a:lnTo>
                <a:cubicBezTo>
                  <a:pt x="2678691" y="0"/>
                  <a:pt x="2729865" y="51174"/>
                  <a:pt x="2729865" y="114299"/>
                </a:cubicBezTo>
                <a:lnTo>
                  <a:pt x="2729865" y="3263266"/>
                </a:lnTo>
                <a:cubicBezTo>
                  <a:pt x="2729865" y="3326391"/>
                  <a:pt x="2678691" y="3377565"/>
                  <a:pt x="2615566" y="3377565"/>
                </a:cubicBezTo>
                <a:lnTo>
                  <a:pt x="114299" y="3377565"/>
                </a:lnTo>
                <a:cubicBezTo>
                  <a:pt x="51174" y="3377565"/>
                  <a:pt x="0" y="3326391"/>
                  <a:pt x="0" y="326326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12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746998" y="2007873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0140" y="191262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Import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0140" y="2179323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Cleaning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484123"/>
            <a:ext cx="2409825" cy="762000"/>
          </a:xfrm>
          <a:custGeom>
            <a:avLst/>
            <a:gdLst/>
            <a:ahLst/>
            <a:cxnLst/>
            <a:rect l="l" t="t" r="r" b="b"/>
            <a:pathLst>
              <a:path w="2409825" h="762000">
                <a:moveTo>
                  <a:pt x="76200" y="0"/>
                </a:moveTo>
                <a:lnTo>
                  <a:pt x="2333625" y="0"/>
                </a:lnTo>
                <a:cubicBezTo>
                  <a:pt x="2375681" y="0"/>
                  <a:pt x="2409825" y="34144"/>
                  <a:pt x="2409825" y="76200"/>
                </a:cubicBezTo>
                <a:lnTo>
                  <a:pt x="2409825" y="685800"/>
                </a:lnTo>
                <a:cubicBezTo>
                  <a:pt x="2409825" y="727856"/>
                  <a:pt x="2375681" y="762000"/>
                  <a:pt x="23336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4840" y="25603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40" y="2788923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data into MySQL with proper schema design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223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4840" y="33985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840" y="36271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data types for accurate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700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4840" y="40462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840" y="42748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relationships between tables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659633"/>
            <a:ext cx="2409825" cy="7620"/>
          </a:xfrm>
          <a:custGeom>
            <a:avLst/>
            <a:gdLst/>
            <a:ahLst/>
            <a:cxnLst/>
            <a:rect l="l" t="t" r="r" b="b"/>
            <a:pathLst>
              <a:path w="2409825" h="7620">
                <a:moveTo>
                  <a:pt x="0" y="0"/>
                </a:moveTo>
                <a:lnTo>
                  <a:pt x="2409825" y="0"/>
                </a:lnTo>
                <a:lnTo>
                  <a:pt x="2409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7215" y="47967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15340" y="4777741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84220" y="1752600"/>
            <a:ext cx="2729865" cy="3377565"/>
          </a:xfrm>
          <a:custGeom>
            <a:avLst/>
            <a:gdLst/>
            <a:ahLst/>
            <a:cxnLst/>
            <a:rect l="l" t="t" r="r" b="b"/>
            <a:pathLst>
              <a:path w="2729865" h="3377565">
                <a:moveTo>
                  <a:pt x="114299" y="0"/>
                </a:moveTo>
                <a:lnTo>
                  <a:pt x="2615566" y="0"/>
                </a:lnTo>
                <a:cubicBezTo>
                  <a:pt x="2678691" y="0"/>
                  <a:pt x="2729865" y="51174"/>
                  <a:pt x="2729865" y="114299"/>
                </a:cubicBezTo>
                <a:lnTo>
                  <a:pt x="2729865" y="3263266"/>
                </a:lnTo>
                <a:cubicBezTo>
                  <a:pt x="2729865" y="3326391"/>
                  <a:pt x="2678691" y="3377565"/>
                  <a:pt x="2615566" y="3377565"/>
                </a:cubicBezTo>
                <a:lnTo>
                  <a:pt x="114299" y="3377565"/>
                </a:lnTo>
                <a:cubicBezTo>
                  <a:pt x="51174" y="3377565"/>
                  <a:pt x="0" y="3326391"/>
                  <a:pt x="0" y="326326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44240" y="1912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3624263" y="200787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015740" y="191262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15740" y="2179323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(SQL)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44240" y="24841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5603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20440" y="27889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SQL for KPI calculations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44240" y="31318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2080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20440" y="34366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bookings, revenue, distance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44240" y="37795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8557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20440" y="40843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Time-based and location metrics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444240" y="4659633"/>
            <a:ext cx="2409825" cy="7620"/>
          </a:xfrm>
          <a:custGeom>
            <a:avLst/>
            <a:gdLst/>
            <a:ahLst/>
            <a:cxnLst/>
            <a:rect l="l" t="t" r="r" b="b"/>
            <a:pathLst>
              <a:path w="2409825" h="7620">
                <a:moveTo>
                  <a:pt x="0" y="0"/>
                </a:moveTo>
                <a:lnTo>
                  <a:pt x="2409825" y="0"/>
                </a:lnTo>
                <a:lnTo>
                  <a:pt x="2409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53765" y="479679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3710940" y="4777741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Queries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9820" y="1752600"/>
            <a:ext cx="2729865" cy="3377565"/>
          </a:xfrm>
          <a:custGeom>
            <a:avLst/>
            <a:gdLst/>
            <a:ahLst/>
            <a:cxnLst/>
            <a:rect l="l" t="t" r="r" b="b"/>
            <a:pathLst>
              <a:path w="2729865" h="3377565">
                <a:moveTo>
                  <a:pt x="114299" y="0"/>
                </a:moveTo>
                <a:lnTo>
                  <a:pt x="2615566" y="0"/>
                </a:lnTo>
                <a:cubicBezTo>
                  <a:pt x="2678691" y="0"/>
                  <a:pt x="2729865" y="51174"/>
                  <a:pt x="2729865" y="114299"/>
                </a:cubicBezTo>
                <a:lnTo>
                  <a:pt x="2729865" y="3263266"/>
                </a:lnTo>
                <a:cubicBezTo>
                  <a:pt x="2729865" y="3326391"/>
                  <a:pt x="2678691" y="3377565"/>
                  <a:pt x="2615566" y="3377565"/>
                </a:cubicBezTo>
                <a:lnTo>
                  <a:pt x="114299" y="3377565"/>
                </a:lnTo>
                <a:cubicBezTo>
                  <a:pt x="51174" y="3377565"/>
                  <a:pt x="0" y="3326391"/>
                  <a:pt x="0" y="326326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39840" y="1912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517481" y="2007873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11340" y="1912620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11340" y="2179323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(Python)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9840" y="24841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16040" y="25603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16040" y="27889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to Python via pymysql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9840" y="31318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16040" y="32080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16040" y="34366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queries and extract results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9840" y="37795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16040" y="38557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6040" y="40843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Cross-check SQL vs Power BI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9840" y="4659633"/>
            <a:ext cx="2409825" cy="7620"/>
          </a:xfrm>
          <a:custGeom>
            <a:avLst/>
            <a:gdLst/>
            <a:ahLst/>
            <a:cxnLst/>
            <a:rect l="l" t="t" r="r" b="b"/>
            <a:pathLst>
              <a:path w="2409825" h="7620">
                <a:moveTo>
                  <a:pt x="0" y="0"/>
                </a:moveTo>
                <a:lnTo>
                  <a:pt x="2409825" y="0"/>
                </a:lnTo>
                <a:lnTo>
                  <a:pt x="2409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68415" y="47967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0909" y="59680"/>
                </a:moveTo>
                <a:cubicBezTo>
                  <a:pt x="128617" y="50483"/>
                  <a:pt x="124271" y="43547"/>
                  <a:pt x="115014" y="43547"/>
                </a:cubicBezTo>
                <a:lnTo>
                  <a:pt x="103078" y="43547"/>
                </a:lnTo>
                <a:lnTo>
                  <a:pt x="103078" y="57656"/>
                </a:lnTo>
                <a:cubicBezTo>
                  <a:pt x="103078" y="68610"/>
                  <a:pt x="93791" y="77837"/>
                  <a:pt x="83195" y="77837"/>
                </a:cubicBezTo>
                <a:lnTo>
                  <a:pt x="51405" y="77837"/>
                </a:lnTo>
                <a:cubicBezTo>
                  <a:pt x="42714" y="77837"/>
                  <a:pt x="35510" y="85279"/>
                  <a:pt x="35510" y="94000"/>
                </a:cubicBezTo>
                <a:lnTo>
                  <a:pt x="35510" y="124301"/>
                </a:lnTo>
                <a:cubicBezTo>
                  <a:pt x="35510" y="132933"/>
                  <a:pt x="43011" y="137993"/>
                  <a:pt x="51405" y="140464"/>
                </a:cubicBezTo>
                <a:cubicBezTo>
                  <a:pt x="61466" y="143411"/>
                  <a:pt x="71140" y="143947"/>
                  <a:pt x="83195" y="140464"/>
                </a:cubicBezTo>
                <a:cubicBezTo>
                  <a:pt x="91202" y="138142"/>
                  <a:pt x="99090" y="133469"/>
                  <a:pt x="99090" y="124301"/>
                </a:cubicBezTo>
                <a:lnTo>
                  <a:pt x="99090" y="112187"/>
                </a:lnTo>
                <a:lnTo>
                  <a:pt x="67330" y="112187"/>
                </a:lnTo>
                <a:lnTo>
                  <a:pt x="67330" y="108139"/>
                </a:lnTo>
                <a:lnTo>
                  <a:pt x="115014" y="108139"/>
                </a:lnTo>
                <a:cubicBezTo>
                  <a:pt x="124271" y="108139"/>
                  <a:pt x="127695" y="101679"/>
                  <a:pt x="130909" y="92006"/>
                </a:cubicBezTo>
                <a:cubicBezTo>
                  <a:pt x="134243" y="82034"/>
                  <a:pt x="134094" y="72450"/>
                  <a:pt x="130909" y="59680"/>
                </a:cubicBezTo>
                <a:close/>
                <a:moveTo>
                  <a:pt x="85189" y="132368"/>
                </a:moveTo>
                <a:cubicBezTo>
                  <a:pt x="82924" y="132527"/>
                  <a:pt x="80759" y="131408"/>
                  <a:pt x="79578" y="129468"/>
                </a:cubicBezTo>
                <a:cubicBezTo>
                  <a:pt x="78397" y="127529"/>
                  <a:pt x="78397" y="125092"/>
                  <a:pt x="79578" y="123152"/>
                </a:cubicBezTo>
                <a:cubicBezTo>
                  <a:pt x="80759" y="121213"/>
                  <a:pt x="82924" y="120094"/>
                  <a:pt x="85189" y="120253"/>
                </a:cubicBezTo>
                <a:cubicBezTo>
                  <a:pt x="87455" y="120094"/>
                  <a:pt x="89619" y="121213"/>
                  <a:pt x="90800" y="123152"/>
                </a:cubicBezTo>
                <a:cubicBezTo>
                  <a:pt x="91982" y="125092"/>
                  <a:pt x="91982" y="127529"/>
                  <a:pt x="90800" y="129468"/>
                </a:cubicBezTo>
                <a:cubicBezTo>
                  <a:pt x="89619" y="131408"/>
                  <a:pt x="87455" y="132527"/>
                  <a:pt x="85189" y="132368"/>
                </a:cubicBezTo>
                <a:close/>
                <a:moveTo>
                  <a:pt x="49947" y="73849"/>
                </a:moveTo>
                <a:lnTo>
                  <a:pt x="81736" y="73849"/>
                </a:lnTo>
                <a:cubicBezTo>
                  <a:pt x="90577" y="73849"/>
                  <a:pt x="97631" y="66556"/>
                  <a:pt x="97631" y="57686"/>
                </a:cubicBezTo>
                <a:lnTo>
                  <a:pt x="97631" y="27355"/>
                </a:lnTo>
                <a:cubicBezTo>
                  <a:pt x="97631" y="18723"/>
                  <a:pt x="90368" y="12263"/>
                  <a:pt x="81736" y="10805"/>
                </a:cubicBezTo>
                <a:cubicBezTo>
                  <a:pt x="71080" y="9049"/>
                  <a:pt x="59501" y="9138"/>
                  <a:pt x="49947" y="10835"/>
                </a:cubicBezTo>
                <a:cubicBezTo>
                  <a:pt x="36493" y="13216"/>
                  <a:pt x="34052" y="18187"/>
                  <a:pt x="34052" y="27384"/>
                </a:cubicBezTo>
                <a:lnTo>
                  <a:pt x="34052" y="39499"/>
                </a:lnTo>
                <a:lnTo>
                  <a:pt x="65871" y="39499"/>
                </a:lnTo>
                <a:lnTo>
                  <a:pt x="65871" y="43547"/>
                </a:lnTo>
                <a:lnTo>
                  <a:pt x="22116" y="43547"/>
                </a:lnTo>
                <a:cubicBezTo>
                  <a:pt x="12859" y="43547"/>
                  <a:pt x="4763" y="49113"/>
                  <a:pt x="2232" y="59680"/>
                </a:cubicBezTo>
                <a:cubicBezTo>
                  <a:pt x="-685" y="71795"/>
                  <a:pt x="-804" y="79355"/>
                  <a:pt x="2232" y="92006"/>
                </a:cubicBezTo>
                <a:cubicBezTo>
                  <a:pt x="4495" y="101411"/>
                  <a:pt x="9882" y="108139"/>
                  <a:pt x="19139" y="108139"/>
                </a:cubicBezTo>
                <a:lnTo>
                  <a:pt x="30063" y="108139"/>
                </a:lnTo>
                <a:lnTo>
                  <a:pt x="30063" y="93613"/>
                </a:lnTo>
                <a:cubicBezTo>
                  <a:pt x="30063" y="83106"/>
                  <a:pt x="39142" y="73849"/>
                  <a:pt x="49947" y="73849"/>
                </a:cubicBezTo>
                <a:close/>
                <a:moveTo>
                  <a:pt x="47982" y="19258"/>
                </a:moveTo>
                <a:cubicBezTo>
                  <a:pt x="51334" y="19258"/>
                  <a:pt x="54054" y="21979"/>
                  <a:pt x="54054" y="25331"/>
                </a:cubicBezTo>
                <a:cubicBezTo>
                  <a:pt x="54054" y="28682"/>
                  <a:pt x="51334" y="31403"/>
                  <a:pt x="47982" y="31403"/>
                </a:cubicBezTo>
                <a:cubicBezTo>
                  <a:pt x="44631" y="31403"/>
                  <a:pt x="41910" y="28682"/>
                  <a:pt x="41910" y="25331"/>
                </a:cubicBezTo>
                <a:cubicBezTo>
                  <a:pt x="41910" y="21979"/>
                  <a:pt x="44631" y="19258"/>
                  <a:pt x="47982" y="1925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Text 53"/>
          <p:cNvSpPr/>
          <p:nvPr/>
        </p:nvSpPr>
        <p:spPr>
          <a:xfrm>
            <a:off x="6606540" y="4777741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5420" y="1752600"/>
            <a:ext cx="2729865" cy="3377565"/>
          </a:xfrm>
          <a:custGeom>
            <a:avLst/>
            <a:gdLst/>
            <a:ahLst/>
            <a:cxnLst/>
            <a:rect l="l" t="t" r="r" b="b"/>
            <a:pathLst>
              <a:path w="2729865" h="3377565">
                <a:moveTo>
                  <a:pt x="114299" y="0"/>
                </a:moveTo>
                <a:lnTo>
                  <a:pt x="2615566" y="0"/>
                </a:lnTo>
                <a:cubicBezTo>
                  <a:pt x="2678691" y="0"/>
                  <a:pt x="2729865" y="51174"/>
                  <a:pt x="2729865" y="114299"/>
                </a:cubicBezTo>
                <a:lnTo>
                  <a:pt x="2729865" y="3263266"/>
                </a:lnTo>
                <a:cubicBezTo>
                  <a:pt x="2729865" y="3326391"/>
                  <a:pt x="2678691" y="3377565"/>
                  <a:pt x="2615566" y="3377565"/>
                </a:cubicBezTo>
                <a:lnTo>
                  <a:pt x="114299" y="3377565"/>
                </a:lnTo>
                <a:cubicBezTo>
                  <a:pt x="51174" y="3377565"/>
                  <a:pt x="0" y="3326391"/>
                  <a:pt x="0" y="326326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35440" y="1912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8" name="Text 56"/>
          <p:cNvSpPr/>
          <p:nvPr/>
        </p:nvSpPr>
        <p:spPr>
          <a:xfrm>
            <a:off x="9415582" y="200787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806940" y="191262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806940" y="2179323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(Power BI)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235440" y="24841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311640" y="25603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311640" y="27889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cleaned data into Power BI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235440" y="31318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9311640" y="32080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311640" y="34366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charts, KPIs, heatmaps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235440" y="3779523"/>
            <a:ext cx="2409825" cy="571500"/>
          </a:xfrm>
          <a:custGeom>
            <a:avLst/>
            <a:gdLst/>
            <a:ahLst/>
            <a:cxnLst/>
            <a:rect l="l" t="t" r="r" b="b"/>
            <a:pathLst>
              <a:path w="2409825" h="571500">
                <a:moveTo>
                  <a:pt x="76198" y="0"/>
                </a:moveTo>
                <a:lnTo>
                  <a:pt x="2333627" y="0"/>
                </a:lnTo>
                <a:cubicBezTo>
                  <a:pt x="2375710" y="0"/>
                  <a:pt x="2409825" y="34115"/>
                  <a:pt x="2409825" y="76198"/>
                </a:cubicBezTo>
                <a:lnTo>
                  <a:pt x="2409825" y="495302"/>
                </a:lnTo>
                <a:cubicBezTo>
                  <a:pt x="2409825" y="537385"/>
                  <a:pt x="2375710" y="571500"/>
                  <a:pt x="23336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9311640" y="38557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311640" y="4084323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slicers for interactivity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235440" y="4659633"/>
            <a:ext cx="2409825" cy="7620"/>
          </a:xfrm>
          <a:custGeom>
            <a:avLst/>
            <a:gdLst/>
            <a:ahLst/>
            <a:cxnLst/>
            <a:rect l="l" t="t" r="r" b="b"/>
            <a:pathLst>
              <a:path w="2409825" h="7620">
                <a:moveTo>
                  <a:pt x="0" y="0"/>
                </a:moveTo>
                <a:lnTo>
                  <a:pt x="2409825" y="0"/>
                </a:lnTo>
                <a:lnTo>
                  <a:pt x="24098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244965" y="479679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2" name="Text 70"/>
          <p:cNvSpPr/>
          <p:nvPr/>
        </p:nvSpPr>
        <p:spPr>
          <a:xfrm>
            <a:off x="9502140" y="4777741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84810" y="5665469"/>
            <a:ext cx="11418570" cy="807720"/>
          </a:xfrm>
          <a:custGeom>
            <a:avLst/>
            <a:gdLst/>
            <a:ahLst/>
            <a:cxnLst/>
            <a:rect l="l" t="t" r="r" b="b"/>
            <a:pathLst>
              <a:path w="11418570" h="807720">
                <a:moveTo>
                  <a:pt x="114300" y="0"/>
                </a:moveTo>
                <a:lnTo>
                  <a:pt x="11304270" y="0"/>
                </a:lnTo>
                <a:cubicBezTo>
                  <a:pt x="11367396" y="0"/>
                  <a:pt x="11418570" y="51174"/>
                  <a:pt x="11418570" y="114300"/>
                </a:cubicBezTo>
                <a:lnTo>
                  <a:pt x="11418570" y="693420"/>
                </a:lnTo>
                <a:cubicBezTo>
                  <a:pt x="11418570" y="756546"/>
                  <a:pt x="11367396" y="807720"/>
                  <a:pt x="113042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1020" y="595503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5" name="Text 73"/>
          <p:cNvSpPr/>
          <p:nvPr/>
        </p:nvSpPr>
        <p:spPr>
          <a:xfrm>
            <a:off x="979170" y="5821682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79170" y="6088382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data to actionable insights in 4 systematic stages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355581" y="5821682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379393" y="6126361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037570" y="5821682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061383" y="6126361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507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spc="112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641215"/>
            <a:ext cx="1163984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Description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231" y="1104316"/>
            <a:ext cx="854954" cy="35623"/>
          </a:xfrm>
          <a:custGeom>
            <a:avLst/>
            <a:gdLst/>
            <a:ahLst/>
            <a:cxnLst/>
            <a:rect l="l" t="t" r="r" b="b"/>
            <a:pathLst>
              <a:path w="854954" h="35623">
                <a:moveTo>
                  <a:pt x="0" y="0"/>
                </a:moveTo>
                <a:lnTo>
                  <a:pt x="854954" y="0"/>
                </a:lnTo>
                <a:lnTo>
                  <a:pt x="854954" y="35623"/>
                </a:lnTo>
                <a:lnTo>
                  <a:pt x="0" y="3562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63355" y="1289556"/>
            <a:ext cx="4493852" cy="1759780"/>
          </a:xfrm>
          <a:custGeom>
            <a:avLst/>
            <a:gdLst/>
            <a:ahLst/>
            <a:cxnLst/>
            <a:rect l="l" t="t" r="r" b="b"/>
            <a:pathLst>
              <a:path w="4493852" h="1759780">
                <a:moveTo>
                  <a:pt x="106871" y="0"/>
                </a:moveTo>
                <a:lnTo>
                  <a:pt x="4386980" y="0"/>
                </a:lnTo>
                <a:cubicBezTo>
                  <a:pt x="4446004" y="0"/>
                  <a:pt x="4493852" y="47848"/>
                  <a:pt x="4493852" y="106871"/>
                </a:cubicBezTo>
                <a:lnTo>
                  <a:pt x="4493852" y="1652909"/>
                </a:lnTo>
                <a:cubicBezTo>
                  <a:pt x="4493852" y="1711932"/>
                  <a:pt x="4446004" y="1759780"/>
                  <a:pt x="4386980" y="1759780"/>
                </a:cubicBezTo>
                <a:lnTo>
                  <a:pt x="106871" y="1759780"/>
                </a:lnTo>
                <a:cubicBezTo>
                  <a:pt x="47848" y="1759780"/>
                  <a:pt x="0" y="1711932"/>
                  <a:pt x="0" y="1652909"/>
                </a:cubicBezTo>
                <a:lnTo>
                  <a:pt x="0" y="106871"/>
                </a:lnTo>
                <a:cubicBezTo>
                  <a:pt x="0" y="47848"/>
                  <a:pt x="47848" y="0"/>
                  <a:pt x="10687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143" y="1608383"/>
            <a:ext cx="300570" cy="267173"/>
          </a:xfrm>
          <a:custGeom>
            <a:avLst/>
            <a:gdLst/>
            <a:ahLst/>
            <a:cxnLst/>
            <a:rect l="l" t="t" r="r" b="b"/>
            <a:pathLst>
              <a:path w="300570" h="267173">
                <a:moveTo>
                  <a:pt x="50095" y="0"/>
                </a:moveTo>
                <a:cubicBezTo>
                  <a:pt x="31675" y="0"/>
                  <a:pt x="16698" y="14976"/>
                  <a:pt x="16698" y="33397"/>
                </a:cubicBezTo>
                <a:lnTo>
                  <a:pt x="16698" y="233776"/>
                </a:lnTo>
                <a:cubicBezTo>
                  <a:pt x="16698" y="252197"/>
                  <a:pt x="31675" y="267173"/>
                  <a:pt x="50095" y="267173"/>
                </a:cubicBezTo>
                <a:lnTo>
                  <a:pt x="91841" y="267173"/>
                </a:lnTo>
                <a:lnTo>
                  <a:pt x="91841" y="208729"/>
                </a:lnTo>
                <a:cubicBezTo>
                  <a:pt x="91841" y="190309"/>
                  <a:pt x="106817" y="175332"/>
                  <a:pt x="125237" y="175332"/>
                </a:cubicBezTo>
                <a:lnTo>
                  <a:pt x="217078" y="175332"/>
                </a:lnTo>
                <a:lnTo>
                  <a:pt x="217078" y="88971"/>
                </a:lnTo>
                <a:cubicBezTo>
                  <a:pt x="217078" y="80100"/>
                  <a:pt x="213582" y="71594"/>
                  <a:pt x="207320" y="65332"/>
                </a:cubicBezTo>
                <a:lnTo>
                  <a:pt x="151694" y="9758"/>
                </a:lnTo>
                <a:cubicBezTo>
                  <a:pt x="145432" y="3496"/>
                  <a:pt x="136978" y="0"/>
                  <a:pt x="128107" y="0"/>
                </a:cubicBezTo>
                <a:lnTo>
                  <a:pt x="50095" y="0"/>
                </a:lnTo>
                <a:close/>
                <a:moveTo>
                  <a:pt x="186552" y="91841"/>
                </a:moveTo>
                <a:lnTo>
                  <a:pt x="137761" y="91841"/>
                </a:lnTo>
                <a:cubicBezTo>
                  <a:pt x="130821" y="91841"/>
                  <a:pt x="125237" y="86257"/>
                  <a:pt x="125237" y="79317"/>
                </a:cubicBezTo>
                <a:lnTo>
                  <a:pt x="125237" y="30527"/>
                </a:lnTo>
                <a:lnTo>
                  <a:pt x="186552" y="91841"/>
                </a:lnTo>
                <a:close/>
                <a:moveTo>
                  <a:pt x="137761" y="198293"/>
                </a:moveTo>
                <a:cubicBezTo>
                  <a:pt x="125081" y="198293"/>
                  <a:pt x="114801" y="208572"/>
                  <a:pt x="114801" y="221253"/>
                </a:cubicBezTo>
                <a:lnTo>
                  <a:pt x="114801" y="262999"/>
                </a:lnTo>
                <a:cubicBezTo>
                  <a:pt x="114801" y="275679"/>
                  <a:pt x="125081" y="285959"/>
                  <a:pt x="137761" y="285959"/>
                </a:cubicBezTo>
                <a:lnTo>
                  <a:pt x="146110" y="285959"/>
                </a:lnTo>
                <a:cubicBezTo>
                  <a:pt x="158791" y="285959"/>
                  <a:pt x="169070" y="275679"/>
                  <a:pt x="169070" y="262999"/>
                </a:cubicBezTo>
                <a:lnTo>
                  <a:pt x="169070" y="258824"/>
                </a:lnTo>
                <a:cubicBezTo>
                  <a:pt x="169070" y="253084"/>
                  <a:pt x="164374" y="248388"/>
                  <a:pt x="158634" y="248388"/>
                </a:cubicBezTo>
                <a:cubicBezTo>
                  <a:pt x="152894" y="248388"/>
                  <a:pt x="148198" y="253084"/>
                  <a:pt x="148198" y="258824"/>
                </a:cubicBezTo>
                <a:lnTo>
                  <a:pt x="148198" y="262999"/>
                </a:lnTo>
                <a:cubicBezTo>
                  <a:pt x="148198" y="264147"/>
                  <a:pt x="147258" y="265086"/>
                  <a:pt x="146110" y="265086"/>
                </a:cubicBezTo>
                <a:lnTo>
                  <a:pt x="137761" y="265086"/>
                </a:lnTo>
                <a:cubicBezTo>
                  <a:pt x="136613" y="265086"/>
                  <a:pt x="135674" y="264147"/>
                  <a:pt x="135674" y="262999"/>
                </a:cubicBezTo>
                <a:lnTo>
                  <a:pt x="135674" y="221253"/>
                </a:lnTo>
                <a:cubicBezTo>
                  <a:pt x="135674" y="220105"/>
                  <a:pt x="136613" y="219165"/>
                  <a:pt x="137761" y="219165"/>
                </a:cubicBezTo>
                <a:lnTo>
                  <a:pt x="146110" y="219165"/>
                </a:lnTo>
                <a:cubicBezTo>
                  <a:pt x="147258" y="219165"/>
                  <a:pt x="148198" y="220105"/>
                  <a:pt x="148198" y="221253"/>
                </a:cubicBezTo>
                <a:lnTo>
                  <a:pt x="148198" y="225427"/>
                </a:lnTo>
                <a:cubicBezTo>
                  <a:pt x="148198" y="231167"/>
                  <a:pt x="152894" y="235864"/>
                  <a:pt x="158634" y="235864"/>
                </a:cubicBezTo>
                <a:cubicBezTo>
                  <a:pt x="164374" y="235864"/>
                  <a:pt x="169070" y="231167"/>
                  <a:pt x="169070" y="225427"/>
                </a:cubicBezTo>
                <a:lnTo>
                  <a:pt x="169070" y="221253"/>
                </a:lnTo>
                <a:cubicBezTo>
                  <a:pt x="169070" y="208572"/>
                  <a:pt x="158791" y="198293"/>
                  <a:pt x="146110" y="198293"/>
                </a:cubicBezTo>
                <a:lnTo>
                  <a:pt x="137761" y="198293"/>
                </a:lnTo>
                <a:close/>
                <a:moveTo>
                  <a:pt x="208729" y="198293"/>
                </a:moveTo>
                <a:cubicBezTo>
                  <a:pt x="193753" y="198293"/>
                  <a:pt x="181594" y="210451"/>
                  <a:pt x="181594" y="225427"/>
                </a:cubicBezTo>
                <a:cubicBezTo>
                  <a:pt x="181594" y="240404"/>
                  <a:pt x="193753" y="252562"/>
                  <a:pt x="208729" y="252562"/>
                </a:cubicBezTo>
                <a:cubicBezTo>
                  <a:pt x="212173" y="252562"/>
                  <a:pt x="214991" y="255380"/>
                  <a:pt x="214991" y="258824"/>
                </a:cubicBezTo>
                <a:cubicBezTo>
                  <a:pt x="214991" y="262268"/>
                  <a:pt x="212173" y="265086"/>
                  <a:pt x="208729" y="265086"/>
                </a:cubicBezTo>
                <a:lnTo>
                  <a:pt x="192031" y="265086"/>
                </a:lnTo>
                <a:cubicBezTo>
                  <a:pt x="186291" y="265086"/>
                  <a:pt x="181594" y="269782"/>
                  <a:pt x="181594" y="275522"/>
                </a:cubicBezTo>
                <a:cubicBezTo>
                  <a:pt x="181594" y="281262"/>
                  <a:pt x="186291" y="285959"/>
                  <a:pt x="192031" y="285959"/>
                </a:cubicBezTo>
                <a:lnTo>
                  <a:pt x="208729" y="285959"/>
                </a:lnTo>
                <a:cubicBezTo>
                  <a:pt x="223705" y="285959"/>
                  <a:pt x="235864" y="273800"/>
                  <a:pt x="235864" y="258824"/>
                </a:cubicBezTo>
                <a:cubicBezTo>
                  <a:pt x="235864" y="243848"/>
                  <a:pt x="223705" y="231689"/>
                  <a:pt x="208729" y="231689"/>
                </a:cubicBezTo>
                <a:cubicBezTo>
                  <a:pt x="205285" y="231689"/>
                  <a:pt x="202467" y="228871"/>
                  <a:pt x="202467" y="225427"/>
                </a:cubicBezTo>
                <a:cubicBezTo>
                  <a:pt x="202467" y="221983"/>
                  <a:pt x="205285" y="219165"/>
                  <a:pt x="208729" y="219165"/>
                </a:cubicBezTo>
                <a:lnTo>
                  <a:pt x="221253" y="219165"/>
                </a:lnTo>
                <a:cubicBezTo>
                  <a:pt x="226993" y="219165"/>
                  <a:pt x="231689" y="214469"/>
                  <a:pt x="231689" y="208729"/>
                </a:cubicBezTo>
                <a:cubicBezTo>
                  <a:pt x="231689" y="202989"/>
                  <a:pt x="226993" y="198293"/>
                  <a:pt x="221253" y="198293"/>
                </a:cubicBezTo>
                <a:lnTo>
                  <a:pt x="208729" y="198293"/>
                </a:lnTo>
                <a:close/>
                <a:moveTo>
                  <a:pt x="258824" y="198293"/>
                </a:moveTo>
                <a:cubicBezTo>
                  <a:pt x="253084" y="198293"/>
                  <a:pt x="248388" y="202989"/>
                  <a:pt x="248388" y="208729"/>
                </a:cubicBezTo>
                <a:lnTo>
                  <a:pt x="248388" y="225219"/>
                </a:lnTo>
                <a:cubicBezTo>
                  <a:pt x="248388" y="243743"/>
                  <a:pt x="253867" y="261903"/>
                  <a:pt x="264147" y="277296"/>
                </a:cubicBezTo>
                <a:lnTo>
                  <a:pt x="266808" y="281315"/>
                </a:lnTo>
                <a:cubicBezTo>
                  <a:pt x="268739" y="284237"/>
                  <a:pt x="272026" y="285959"/>
                  <a:pt x="275470" y="285959"/>
                </a:cubicBezTo>
                <a:cubicBezTo>
                  <a:pt x="278914" y="285959"/>
                  <a:pt x="282202" y="284237"/>
                  <a:pt x="284132" y="281315"/>
                </a:cubicBezTo>
                <a:lnTo>
                  <a:pt x="286794" y="277296"/>
                </a:lnTo>
                <a:cubicBezTo>
                  <a:pt x="297074" y="261851"/>
                  <a:pt x="302553" y="243743"/>
                  <a:pt x="302553" y="225219"/>
                </a:cubicBezTo>
                <a:lnTo>
                  <a:pt x="302553" y="208729"/>
                </a:lnTo>
                <a:cubicBezTo>
                  <a:pt x="302553" y="202989"/>
                  <a:pt x="297856" y="198293"/>
                  <a:pt x="292116" y="198293"/>
                </a:cubicBezTo>
                <a:cubicBezTo>
                  <a:pt x="286376" y="198293"/>
                  <a:pt x="281680" y="202989"/>
                  <a:pt x="281680" y="208729"/>
                </a:cubicBezTo>
                <a:lnTo>
                  <a:pt x="281680" y="225219"/>
                </a:lnTo>
                <a:cubicBezTo>
                  <a:pt x="281680" y="235446"/>
                  <a:pt x="279540" y="245517"/>
                  <a:pt x="275418" y="254806"/>
                </a:cubicBezTo>
                <a:cubicBezTo>
                  <a:pt x="271296" y="245517"/>
                  <a:pt x="269156" y="235446"/>
                  <a:pt x="269156" y="225219"/>
                </a:cubicBezTo>
                <a:lnTo>
                  <a:pt x="269156" y="208729"/>
                </a:lnTo>
                <a:cubicBezTo>
                  <a:pt x="269156" y="202989"/>
                  <a:pt x="264460" y="198293"/>
                  <a:pt x="258720" y="19829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1025054" y="1510420"/>
            <a:ext cx="122899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5054" y="1759781"/>
            <a:ext cx="12111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uber_trip_data.csv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19" y="2116012"/>
            <a:ext cx="1950364" cy="712462"/>
          </a:xfrm>
          <a:custGeom>
            <a:avLst/>
            <a:gdLst/>
            <a:ahLst/>
            <a:cxnLst/>
            <a:rect l="l" t="t" r="r" b="b"/>
            <a:pathLst>
              <a:path w="1950364" h="712462">
                <a:moveTo>
                  <a:pt x="71246" y="0"/>
                </a:moveTo>
                <a:lnTo>
                  <a:pt x="1879118" y="0"/>
                </a:lnTo>
                <a:cubicBezTo>
                  <a:pt x="1918466" y="0"/>
                  <a:pt x="1950364" y="31898"/>
                  <a:pt x="1950364" y="71246"/>
                </a:cubicBezTo>
                <a:lnTo>
                  <a:pt x="1950364" y="641215"/>
                </a:lnTo>
                <a:cubicBezTo>
                  <a:pt x="1950364" y="680537"/>
                  <a:pt x="1918439" y="712462"/>
                  <a:pt x="1879118" y="712462"/>
                </a:cubicBezTo>
                <a:lnTo>
                  <a:pt x="71246" y="712462"/>
                </a:lnTo>
                <a:cubicBezTo>
                  <a:pt x="31898" y="712462"/>
                  <a:pt x="0" y="680564"/>
                  <a:pt x="0" y="64121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4295" y="2222881"/>
            <a:ext cx="1870212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103K+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9918" y="2543489"/>
            <a:ext cx="179896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Rows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80414" y="2116012"/>
            <a:ext cx="1950364" cy="712462"/>
          </a:xfrm>
          <a:custGeom>
            <a:avLst/>
            <a:gdLst/>
            <a:ahLst/>
            <a:cxnLst/>
            <a:rect l="l" t="t" r="r" b="b"/>
            <a:pathLst>
              <a:path w="1950364" h="712462">
                <a:moveTo>
                  <a:pt x="71246" y="0"/>
                </a:moveTo>
                <a:lnTo>
                  <a:pt x="1879118" y="0"/>
                </a:lnTo>
                <a:cubicBezTo>
                  <a:pt x="1918466" y="0"/>
                  <a:pt x="1950364" y="31898"/>
                  <a:pt x="1950364" y="71246"/>
                </a:cubicBezTo>
                <a:lnTo>
                  <a:pt x="1950364" y="641215"/>
                </a:lnTo>
                <a:cubicBezTo>
                  <a:pt x="1950364" y="680537"/>
                  <a:pt x="1918439" y="712462"/>
                  <a:pt x="1879118" y="712462"/>
                </a:cubicBezTo>
                <a:lnTo>
                  <a:pt x="71246" y="712462"/>
                </a:lnTo>
                <a:cubicBezTo>
                  <a:pt x="31898" y="712462"/>
                  <a:pt x="0" y="680564"/>
                  <a:pt x="0" y="64121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720490" y="2222881"/>
            <a:ext cx="1870212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4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56113" y="2543489"/>
            <a:ext cx="179896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Fields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9793" y="3202517"/>
            <a:ext cx="4495633" cy="2785725"/>
          </a:xfrm>
          <a:custGeom>
            <a:avLst/>
            <a:gdLst/>
            <a:ahLst/>
            <a:cxnLst/>
            <a:rect l="l" t="t" r="r" b="b"/>
            <a:pathLst>
              <a:path w="4495633" h="2785725">
                <a:moveTo>
                  <a:pt x="106860" y="0"/>
                </a:moveTo>
                <a:lnTo>
                  <a:pt x="4388773" y="0"/>
                </a:lnTo>
                <a:cubicBezTo>
                  <a:pt x="4447790" y="0"/>
                  <a:pt x="4495633" y="47843"/>
                  <a:pt x="4495633" y="106860"/>
                </a:cubicBezTo>
                <a:lnTo>
                  <a:pt x="4495633" y="2678865"/>
                </a:lnTo>
                <a:cubicBezTo>
                  <a:pt x="4495633" y="2737882"/>
                  <a:pt x="4447790" y="2785725"/>
                  <a:pt x="4388773" y="2785725"/>
                </a:cubicBezTo>
                <a:lnTo>
                  <a:pt x="106860" y="2785725"/>
                </a:lnTo>
                <a:cubicBezTo>
                  <a:pt x="47843" y="2785725"/>
                  <a:pt x="0" y="2737882"/>
                  <a:pt x="0" y="2678865"/>
                </a:cubicBezTo>
                <a:lnTo>
                  <a:pt x="0" y="106860"/>
                </a:lnTo>
                <a:cubicBezTo>
                  <a:pt x="0" y="47843"/>
                  <a:pt x="47843" y="0"/>
                  <a:pt x="10686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905" y="3402004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0" y="78733"/>
                </a:moveTo>
                <a:cubicBezTo>
                  <a:pt x="0" y="35233"/>
                  <a:pt x="35901" y="0"/>
                  <a:pt x="80152" y="0"/>
                </a:cubicBezTo>
                <a:cubicBezTo>
                  <a:pt x="124402" y="0"/>
                  <a:pt x="160304" y="35233"/>
                  <a:pt x="160304" y="78733"/>
                </a:cubicBezTo>
                <a:cubicBezTo>
                  <a:pt x="160304" y="128535"/>
                  <a:pt x="110125" y="188232"/>
                  <a:pt x="89169" y="210983"/>
                </a:cubicBezTo>
                <a:cubicBezTo>
                  <a:pt x="84243" y="216327"/>
                  <a:pt x="76019" y="216327"/>
                  <a:pt x="71093" y="210983"/>
                </a:cubicBezTo>
                <a:cubicBezTo>
                  <a:pt x="50137" y="188232"/>
                  <a:pt x="-42" y="128535"/>
                  <a:pt x="-42" y="78733"/>
                </a:cubicBezTo>
                <a:close/>
                <a:moveTo>
                  <a:pt x="80152" y="106869"/>
                </a:moveTo>
                <a:cubicBezTo>
                  <a:pt x="94898" y="106869"/>
                  <a:pt x="106869" y="94898"/>
                  <a:pt x="106869" y="80152"/>
                </a:cubicBezTo>
                <a:cubicBezTo>
                  <a:pt x="106869" y="65406"/>
                  <a:pt x="94898" y="53435"/>
                  <a:pt x="80152" y="53435"/>
                </a:cubicBezTo>
                <a:cubicBezTo>
                  <a:pt x="65406" y="53435"/>
                  <a:pt x="53435" y="65406"/>
                  <a:pt x="53435" y="80152"/>
                </a:cubicBezTo>
                <a:cubicBezTo>
                  <a:pt x="53435" y="94898"/>
                  <a:pt x="65406" y="106869"/>
                  <a:pt x="80152" y="10686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915513" y="3384193"/>
            <a:ext cx="1416018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Dataset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1471" y="3776047"/>
            <a:ext cx="4132278" cy="605592"/>
          </a:xfrm>
          <a:custGeom>
            <a:avLst/>
            <a:gdLst/>
            <a:ahLst/>
            <a:cxnLst/>
            <a:rect l="l" t="t" r="r" b="b"/>
            <a:pathLst>
              <a:path w="4132278" h="605592">
                <a:moveTo>
                  <a:pt x="71248" y="0"/>
                </a:moveTo>
                <a:lnTo>
                  <a:pt x="4061030" y="0"/>
                </a:lnTo>
                <a:cubicBezTo>
                  <a:pt x="4100379" y="0"/>
                  <a:pt x="4132278" y="31899"/>
                  <a:pt x="4132278" y="71248"/>
                </a:cubicBezTo>
                <a:lnTo>
                  <a:pt x="4132278" y="534344"/>
                </a:lnTo>
                <a:cubicBezTo>
                  <a:pt x="4132278" y="573694"/>
                  <a:pt x="4100379" y="605592"/>
                  <a:pt x="4061030" y="605592"/>
                </a:cubicBezTo>
                <a:lnTo>
                  <a:pt x="71248" y="605592"/>
                </a:lnTo>
                <a:cubicBezTo>
                  <a:pt x="31925" y="605592"/>
                  <a:pt x="0" y="573667"/>
                  <a:pt x="0" y="534344"/>
                </a:cubicBezTo>
                <a:lnTo>
                  <a:pt x="0" y="71248"/>
                </a:lnTo>
                <a:cubicBezTo>
                  <a:pt x="0" y="31925"/>
                  <a:pt x="31925" y="0"/>
                  <a:pt x="7124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8340" y="3882916"/>
            <a:ext cx="3980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location_id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40" y="4096654"/>
            <a:ext cx="3980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identifier for each zone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1471" y="4488508"/>
            <a:ext cx="4132278" cy="605592"/>
          </a:xfrm>
          <a:custGeom>
            <a:avLst/>
            <a:gdLst/>
            <a:ahLst/>
            <a:cxnLst/>
            <a:rect l="l" t="t" r="r" b="b"/>
            <a:pathLst>
              <a:path w="4132278" h="605592">
                <a:moveTo>
                  <a:pt x="71248" y="0"/>
                </a:moveTo>
                <a:lnTo>
                  <a:pt x="4061030" y="0"/>
                </a:lnTo>
                <a:cubicBezTo>
                  <a:pt x="4100379" y="0"/>
                  <a:pt x="4132278" y="31899"/>
                  <a:pt x="4132278" y="71248"/>
                </a:cubicBezTo>
                <a:lnTo>
                  <a:pt x="4132278" y="534344"/>
                </a:lnTo>
                <a:cubicBezTo>
                  <a:pt x="4132278" y="573694"/>
                  <a:pt x="4100379" y="605592"/>
                  <a:pt x="4061030" y="605592"/>
                </a:cubicBezTo>
                <a:lnTo>
                  <a:pt x="71248" y="605592"/>
                </a:lnTo>
                <a:cubicBezTo>
                  <a:pt x="31925" y="605592"/>
                  <a:pt x="0" y="573667"/>
                  <a:pt x="0" y="534344"/>
                </a:cubicBezTo>
                <a:lnTo>
                  <a:pt x="0" y="71248"/>
                </a:lnTo>
                <a:cubicBezTo>
                  <a:pt x="0" y="31925"/>
                  <a:pt x="31925" y="0"/>
                  <a:pt x="7124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8340" y="4595378"/>
            <a:ext cx="3980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340" y="4809116"/>
            <a:ext cx="3980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pickup/drop-off zone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1471" y="5200970"/>
            <a:ext cx="4132278" cy="605592"/>
          </a:xfrm>
          <a:custGeom>
            <a:avLst/>
            <a:gdLst/>
            <a:ahLst/>
            <a:cxnLst/>
            <a:rect l="l" t="t" r="r" b="b"/>
            <a:pathLst>
              <a:path w="4132278" h="605592">
                <a:moveTo>
                  <a:pt x="71248" y="0"/>
                </a:moveTo>
                <a:lnTo>
                  <a:pt x="4061030" y="0"/>
                </a:lnTo>
                <a:cubicBezTo>
                  <a:pt x="4100379" y="0"/>
                  <a:pt x="4132278" y="31899"/>
                  <a:pt x="4132278" y="71248"/>
                </a:cubicBezTo>
                <a:lnTo>
                  <a:pt x="4132278" y="534344"/>
                </a:lnTo>
                <a:cubicBezTo>
                  <a:pt x="4132278" y="573694"/>
                  <a:pt x="4100379" y="605592"/>
                  <a:pt x="4061030" y="605592"/>
                </a:cubicBezTo>
                <a:lnTo>
                  <a:pt x="71248" y="605592"/>
                </a:lnTo>
                <a:cubicBezTo>
                  <a:pt x="31925" y="605592"/>
                  <a:pt x="0" y="573667"/>
                  <a:pt x="0" y="534344"/>
                </a:cubicBezTo>
                <a:lnTo>
                  <a:pt x="0" y="71248"/>
                </a:lnTo>
                <a:cubicBezTo>
                  <a:pt x="0" y="31925"/>
                  <a:pt x="31925" y="0"/>
                  <a:pt x="7124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8340" y="5307839"/>
            <a:ext cx="3980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8340" y="5521578"/>
            <a:ext cx="3980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 division for the trip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08160" y="1285993"/>
            <a:ext cx="6820039" cy="4700466"/>
          </a:xfrm>
          <a:custGeom>
            <a:avLst/>
            <a:gdLst/>
            <a:ahLst/>
            <a:cxnLst/>
            <a:rect l="l" t="t" r="r" b="b"/>
            <a:pathLst>
              <a:path w="6820039" h="4700466">
                <a:moveTo>
                  <a:pt x="106889" y="0"/>
                </a:moveTo>
                <a:lnTo>
                  <a:pt x="6713151" y="0"/>
                </a:lnTo>
                <a:cubicBezTo>
                  <a:pt x="6772184" y="0"/>
                  <a:pt x="6820039" y="47856"/>
                  <a:pt x="6820039" y="106889"/>
                </a:cubicBezTo>
                <a:lnTo>
                  <a:pt x="6820039" y="4593577"/>
                </a:lnTo>
                <a:cubicBezTo>
                  <a:pt x="6820039" y="4652610"/>
                  <a:pt x="6772184" y="4700466"/>
                  <a:pt x="6713151" y="4700466"/>
                </a:cubicBezTo>
                <a:lnTo>
                  <a:pt x="106889" y="4700466"/>
                </a:lnTo>
                <a:cubicBezTo>
                  <a:pt x="47856" y="4700466"/>
                  <a:pt x="0" y="4652610"/>
                  <a:pt x="0" y="4593577"/>
                </a:cubicBezTo>
                <a:lnTo>
                  <a:pt x="0" y="106889"/>
                </a:lnTo>
                <a:cubicBezTo>
                  <a:pt x="0" y="47895"/>
                  <a:pt x="47895" y="0"/>
                  <a:pt x="10688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29914" y="1485485"/>
            <a:ext cx="187021" cy="213738"/>
          </a:xfrm>
          <a:custGeom>
            <a:avLst/>
            <a:gdLst/>
            <a:ahLst/>
            <a:cxnLst/>
            <a:rect l="l" t="t" r="r" b="b"/>
            <a:pathLst>
              <a:path w="187021" h="213738">
                <a:moveTo>
                  <a:pt x="106869" y="66793"/>
                </a:moveTo>
                <a:lnTo>
                  <a:pt x="106869" y="106869"/>
                </a:lnTo>
                <a:lnTo>
                  <a:pt x="160304" y="106869"/>
                </a:lnTo>
                <a:lnTo>
                  <a:pt x="160304" y="66793"/>
                </a:lnTo>
                <a:lnTo>
                  <a:pt x="106869" y="66793"/>
                </a:lnTo>
                <a:close/>
                <a:moveTo>
                  <a:pt x="80152" y="66793"/>
                </a:moveTo>
                <a:lnTo>
                  <a:pt x="26717" y="66793"/>
                </a:lnTo>
                <a:lnTo>
                  <a:pt x="26717" y="106869"/>
                </a:lnTo>
                <a:lnTo>
                  <a:pt x="80152" y="106869"/>
                </a:lnTo>
                <a:lnTo>
                  <a:pt x="80152" y="66793"/>
                </a:lnTo>
                <a:close/>
                <a:moveTo>
                  <a:pt x="0" y="133587"/>
                </a:moveTo>
                <a:lnTo>
                  <a:pt x="0" y="40076"/>
                </a:lnTo>
                <a:cubicBezTo>
                  <a:pt x="0" y="25340"/>
                  <a:pt x="11981" y="13359"/>
                  <a:pt x="26717" y="13359"/>
                </a:cubicBezTo>
                <a:lnTo>
                  <a:pt x="160304" y="13359"/>
                </a:lnTo>
                <a:cubicBezTo>
                  <a:pt x="175040" y="13359"/>
                  <a:pt x="187021" y="25340"/>
                  <a:pt x="187021" y="40076"/>
                </a:cubicBezTo>
                <a:lnTo>
                  <a:pt x="187021" y="173663"/>
                </a:lnTo>
                <a:cubicBezTo>
                  <a:pt x="187021" y="188399"/>
                  <a:pt x="175040" y="200380"/>
                  <a:pt x="160304" y="200380"/>
                </a:cubicBezTo>
                <a:lnTo>
                  <a:pt x="26717" y="200380"/>
                </a:lnTo>
                <a:cubicBezTo>
                  <a:pt x="11981" y="200380"/>
                  <a:pt x="0" y="188399"/>
                  <a:pt x="0" y="173663"/>
                </a:cubicBezTo>
                <a:lnTo>
                  <a:pt x="0" y="133587"/>
                </a:lnTo>
                <a:close/>
                <a:moveTo>
                  <a:pt x="160304" y="133587"/>
                </a:moveTo>
                <a:lnTo>
                  <a:pt x="106869" y="133587"/>
                </a:lnTo>
                <a:lnTo>
                  <a:pt x="106869" y="173663"/>
                </a:lnTo>
                <a:lnTo>
                  <a:pt x="160304" y="173663"/>
                </a:lnTo>
                <a:lnTo>
                  <a:pt x="160304" y="133587"/>
                </a:lnTo>
                <a:close/>
                <a:moveTo>
                  <a:pt x="80152" y="173663"/>
                </a:moveTo>
                <a:lnTo>
                  <a:pt x="80152" y="133587"/>
                </a:lnTo>
                <a:lnTo>
                  <a:pt x="26717" y="133587"/>
                </a:lnTo>
                <a:lnTo>
                  <a:pt x="26717" y="173663"/>
                </a:lnTo>
                <a:lnTo>
                  <a:pt x="80152" y="17366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563880" y="1467674"/>
            <a:ext cx="197708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Uber Trip Dataset Fields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07649" y="1859528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207649" y="1859528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5332330" y="1966397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trip_id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32330" y="2180135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identifier for each trip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90873" y="1859528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490873" y="1859528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8615554" y="1966397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pickup_datetime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15554" y="2180135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start time (peak analysis)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07649" y="2571989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07649" y="2571989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5332330" y="2678858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dropoff_datetime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32330" y="2892597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end time (duration calc)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90873" y="2571989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90873" y="2571989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8615554" y="2678858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trip_status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15554" y="2892597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Completed/Cancelled/Incomplete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207649" y="3284451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07649" y="3284451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8" name="Text 46"/>
          <p:cNvSpPr/>
          <p:nvPr/>
        </p:nvSpPr>
        <p:spPr>
          <a:xfrm>
            <a:off x="5332330" y="3391320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trip_distance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32330" y="3605059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distance covered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90873" y="3284451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90873" y="3284451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2" name="Text 50"/>
          <p:cNvSpPr/>
          <p:nvPr/>
        </p:nvSpPr>
        <p:spPr>
          <a:xfrm>
            <a:off x="8615554" y="3391320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fare_amount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15554" y="3605059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fare charged (revenue)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207649" y="3996912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207649" y="3996912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6" name="Text 54"/>
          <p:cNvSpPr/>
          <p:nvPr/>
        </p:nvSpPr>
        <p:spPr>
          <a:xfrm>
            <a:off x="5332330" y="4103782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payment_type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332330" y="4317520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Cash, Card, Online, etc.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90873" y="3996912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490873" y="3996912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0" name="Text 58"/>
          <p:cNvSpPr/>
          <p:nvPr/>
        </p:nvSpPr>
        <p:spPr>
          <a:xfrm>
            <a:off x="8615554" y="4103782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driver_id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15554" y="4317520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performance analysis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207649" y="4709374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207649" y="4709374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4" name="Text 62"/>
          <p:cNvSpPr/>
          <p:nvPr/>
        </p:nvSpPr>
        <p:spPr>
          <a:xfrm>
            <a:off x="5332330" y="4816243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pickup_location_id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332330" y="5029982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start location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490873" y="4709374"/>
            <a:ext cx="3161549" cy="605592"/>
          </a:xfrm>
          <a:custGeom>
            <a:avLst/>
            <a:gdLst/>
            <a:ahLst/>
            <a:cxnLst/>
            <a:rect l="l" t="t" r="r" b="b"/>
            <a:pathLst>
              <a:path w="3161549" h="605592">
                <a:moveTo>
                  <a:pt x="35623" y="0"/>
                </a:moveTo>
                <a:lnTo>
                  <a:pt x="3090301" y="0"/>
                </a:lnTo>
                <a:cubicBezTo>
                  <a:pt x="3129650" y="0"/>
                  <a:pt x="3161549" y="31899"/>
                  <a:pt x="3161549" y="71248"/>
                </a:cubicBezTo>
                <a:lnTo>
                  <a:pt x="3161549" y="534344"/>
                </a:lnTo>
                <a:cubicBezTo>
                  <a:pt x="3161549" y="573694"/>
                  <a:pt x="3129650" y="605592"/>
                  <a:pt x="3090301" y="605592"/>
                </a:cubicBez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490873" y="4709374"/>
            <a:ext cx="35623" cy="605592"/>
          </a:xfrm>
          <a:custGeom>
            <a:avLst/>
            <a:gdLst/>
            <a:ahLst/>
            <a:cxnLst/>
            <a:rect l="l" t="t" r="r" b="b"/>
            <a:pathLst>
              <a:path w="35623" h="605592">
                <a:moveTo>
                  <a:pt x="35623" y="0"/>
                </a:moveTo>
                <a:lnTo>
                  <a:pt x="35623" y="0"/>
                </a:lnTo>
                <a:lnTo>
                  <a:pt x="35623" y="605592"/>
                </a:lnTo>
                <a:lnTo>
                  <a:pt x="35623" y="605592"/>
                </a:lnTo>
                <a:cubicBezTo>
                  <a:pt x="15949" y="605592"/>
                  <a:pt x="0" y="589643"/>
                  <a:pt x="0" y="56996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8" name="Text 66"/>
          <p:cNvSpPr/>
          <p:nvPr/>
        </p:nvSpPr>
        <p:spPr>
          <a:xfrm>
            <a:off x="8615554" y="4816243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dropoff_location_id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615554" y="5029982"/>
            <a:ext cx="299233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end location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59793" y="6137860"/>
            <a:ext cx="11468851" cy="719586"/>
          </a:xfrm>
          <a:custGeom>
            <a:avLst/>
            <a:gdLst/>
            <a:ahLst/>
            <a:cxnLst/>
            <a:rect l="l" t="t" r="r" b="b"/>
            <a:pathLst>
              <a:path w="11468851" h="719586">
                <a:moveTo>
                  <a:pt x="106866" y="0"/>
                </a:moveTo>
                <a:lnTo>
                  <a:pt x="11361986" y="0"/>
                </a:lnTo>
                <a:cubicBezTo>
                  <a:pt x="11421006" y="0"/>
                  <a:pt x="11468851" y="47845"/>
                  <a:pt x="11468851" y="106866"/>
                </a:cubicBezTo>
                <a:lnTo>
                  <a:pt x="11468851" y="612721"/>
                </a:lnTo>
                <a:cubicBezTo>
                  <a:pt x="11468851" y="671741"/>
                  <a:pt x="11421006" y="719586"/>
                  <a:pt x="11361986" y="719586"/>
                </a:cubicBezTo>
                <a:lnTo>
                  <a:pt x="106866" y="719586"/>
                </a:lnTo>
                <a:cubicBezTo>
                  <a:pt x="47845" y="719586"/>
                  <a:pt x="0" y="671741"/>
                  <a:pt x="0" y="612721"/>
                </a:cubicBezTo>
                <a:lnTo>
                  <a:pt x="0" y="106866"/>
                </a:lnTo>
                <a:cubicBezTo>
                  <a:pt x="0" y="47885"/>
                  <a:pt x="47885" y="0"/>
                  <a:pt x="10686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5924" y="6390782"/>
            <a:ext cx="187021" cy="213738"/>
          </a:xfrm>
          <a:custGeom>
            <a:avLst/>
            <a:gdLst/>
            <a:ahLst/>
            <a:cxnLst/>
            <a:rect l="l" t="t" r="r" b="b"/>
            <a:pathLst>
              <a:path w="187021" h="213738">
                <a:moveTo>
                  <a:pt x="187021" y="85913"/>
                </a:moveTo>
                <a:cubicBezTo>
                  <a:pt x="180843" y="90004"/>
                  <a:pt x="173746" y="93302"/>
                  <a:pt x="166357" y="95932"/>
                </a:cubicBezTo>
                <a:cubicBezTo>
                  <a:pt x="146736" y="102945"/>
                  <a:pt x="120979" y="106869"/>
                  <a:pt x="93511" y="106869"/>
                </a:cubicBezTo>
                <a:cubicBezTo>
                  <a:pt x="66042" y="106869"/>
                  <a:pt x="40243" y="102903"/>
                  <a:pt x="20664" y="95932"/>
                </a:cubicBezTo>
                <a:cubicBezTo>
                  <a:pt x="13317" y="93302"/>
                  <a:pt x="6178" y="90004"/>
                  <a:pt x="0" y="85913"/>
                </a:cubicBezTo>
                <a:lnTo>
                  <a:pt x="0" y="120228"/>
                </a:lnTo>
                <a:cubicBezTo>
                  <a:pt x="0" y="138680"/>
                  <a:pt x="41871" y="153625"/>
                  <a:pt x="93511" y="153625"/>
                </a:cubicBezTo>
                <a:cubicBezTo>
                  <a:pt x="145150" y="153625"/>
                  <a:pt x="187021" y="138680"/>
                  <a:pt x="187021" y="120228"/>
                </a:cubicBezTo>
                <a:lnTo>
                  <a:pt x="187021" y="85913"/>
                </a:lnTo>
                <a:close/>
                <a:moveTo>
                  <a:pt x="187021" y="53435"/>
                </a:moveTo>
                <a:lnTo>
                  <a:pt x="187021" y="33397"/>
                </a:lnTo>
                <a:cubicBezTo>
                  <a:pt x="187021" y="14945"/>
                  <a:pt x="145150" y="0"/>
                  <a:pt x="93511" y="0"/>
                </a:cubicBezTo>
                <a:cubicBezTo>
                  <a:pt x="41871" y="0"/>
                  <a:pt x="0" y="14945"/>
                  <a:pt x="0" y="33397"/>
                </a:cubicBezTo>
                <a:lnTo>
                  <a:pt x="0" y="53435"/>
                </a:lnTo>
                <a:cubicBezTo>
                  <a:pt x="0" y="71886"/>
                  <a:pt x="41871" y="86831"/>
                  <a:pt x="93511" y="86831"/>
                </a:cubicBezTo>
                <a:cubicBezTo>
                  <a:pt x="145150" y="86831"/>
                  <a:pt x="187021" y="71886"/>
                  <a:pt x="187021" y="53435"/>
                </a:cubicBezTo>
                <a:close/>
                <a:moveTo>
                  <a:pt x="166357" y="162725"/>
                </a:moveTo>
                <a:cubicBezTo>
                  <a:pt x="146778" y="169697"/>
                  <a:pt x="121021" y="173663"/>
                  <a:pt x="93511" y="173663"/>
                </a:cubicBezTo>
                <a:cubicBezTo>
                  <a:pt x="66000" y="173663"/>
                  <a:pt x="40243" y="169697"/>
                  <a:pt x="20664" y="162725"/>
                </a:cubicBezTo>
                <a:cubicBezTo>
                  <a:pt x="13317" y="160095"/>
                  <a:pt x="6178" y="156797"/>
                  <a:pt x="0" y="152706"/>
                </a:cubicBezTo>
                <a:lnTo>
                  <a:pt x="0" y="180342"/>
                </a:lnTo>
                <a:cubicBezTo>
                  <a:pt x="0" y="198793"/>
                  <a:pt x="41871" y="213738"/>
                  <a:pt x="93511" y="213738"/>
                </a:cubicBezTo>
                <a:cubicBezTo>
                  <a:pt x="145150" y="213738"/>
                  <a:pt x="187021" y="198793"/>
                  <a:pt x="187021" y="180342"/>
                </a:cubicBezTo>
                <a:lnTo>
                  <a:pt x="187021" y="152706"/>
                </a:lnTo>
                <a:cubicBezTo>
                  <a:pt x="180843" y="156797"/>
                  <a:pt x="173746" y="160095"/>
                  <a:pt x="166357" y="1627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2" name="Text 70"/>
          <p:cNvSpPr/>
          <p:nvPr/>
        </p:nvSpPr>
        <p:spPr>
          <a:xfrm>
            <a:off x="915513" y="6390782"/>
            <a:ext cx="7347261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Quality:</a:t>
            </a:r>
            <a:pPr>
              <a:lnSpc>
                <a:spcPct val="130000"/>
              </a:lnSpc>
            </a:pPr>
            <a:r>
              <a:rPr lang="en-US" sz="1122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Comprehensive trip records with temporal, spatial, and financial attributes for multi-dimensional analysis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869820" y="6283913"/>
            <a:ext cx="552158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883179" y="6533274"/>
            <a:ext cx="52544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547995" y="6283913"/>
            <a:ext cx="400760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561354" y="6533274"/>
            <a:ext cx="37404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070652" y="6283913"/>
            <a:ext cx="659027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084011" y="6533274"/>
            <a:ext cx="63231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592" y="348592"/>
            <a:ext cx="11564535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spc="11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592" y="627465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592" y="1080635"/>
            <a:ext cx="836620" cy="34859"/>
          </a:xfrm>
          <a:custGeom>
            <a:avLst/>
            <a:gdLst/>
            <a:ahLst/>
            <a:cxnLst/>
            <a:rect l="l" t="t" r="r" b="b"/>
            <a:pathLst>
              <a:path w="836620" h="34859">
                <a:moveTo>
                  <a:pt x="0" y="0"/>
                </a:moveTo>
                <a:lnTo>
                  <a:pt x="836620" y="0"/>
                </a:lnTo>
                <a:lnTo>
                  <a:pt x="836620" y="34859"/>
                </a:lnTo>
                <a:lnTo>
                  <a:pt x="0" y="34859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55564" y="1261903"/>
            <a:ext cx="3726447" cy="2837538"/>
          </a:xfrm>
          <a:custGeom>
            <a:avLst/>
            <a:gdLst/>
            <a:ahLst/>
            <a:cxnLst/>
            <a:rect l="l" t="t" r="r" b="b"/>
            <a:pathLst>
              <a:path w="3726447" h="2837538">
                <a:moveTo>
                  <a:pt x="104592" y="0"/>
                </a:moveTo>
                <a:lnTo>
                  <a:pt x="3621855" y="0"/>
                </a:lnTo>
                <a:cubicBezTo>
                  <a:pt x="3679620" y="0"/>
                  <a:pt x="3726447" y="46827"/>
                  <a:pt x="3726447" y="104592"/>
                </a:cubicBezTo>
                <a:lnTo>
                  <a:pt x="3726447" y="2732946"/>
                </a:lnTo>
                <a:cubicBezTo>
                  <a:pt x="3726447" y="2790710"/>
                  <a:pt x="3679620" y="2837538"/>
                  <a:pt x="3621855" y="2837538"/>
                </a:cubicBezTo>
                <a:lnTo>
                  <a:pt x="104592" y="2837538"/>
                </a:lnTo>
                <a:cubicBezTo>
                  <a:pt x="46827" y="2837538"/>
                  <a:pt x="0" y="2790710"/>
                  <a:pt x="0" y="2732946"/>
                </a:cubicBezTo>
                <a:lnTo>
                  <a:pt x="0" y="104592"/>
                </a:lnTo>
                <a:cubicBezTo>
                  <a:pt x="0" y="46827"/>
                  <a:pt x="46827" y="0"/>
                  <a:pt x="10459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6831" y="1443171"/>
            <a:ext cx="418310" cy="418310"/>
          </a:xfrm>
          <a:custGeom>
            <a:avLst/>
            <a:gdLst/>
            <a:ahLst/>
            <a:cxnLst/>
            <a:rect l="l" t="t" r="r" b="b"/>
            <a:pathLst>
              <a:path w="418310" h="418310">
                <a:moveTo>
                  <a:pt x="104578" y="0"/>
                </a:moveTo>
                <a:lnTo>
                  <a:pt x="313733" y="0"/>
                </a:lnTo>
                <a:cubicBezTo>
                  <a:pt x="371451" y="0"/>
                  <a:pt x="418310" y="46860"/>
                  <a:pt x="418310" y="104578"/>
                </a:cubicBezTo>
                <a:lnTo>
                  <a:pt x="418310" y="313733"/>
                </a:lnTo>
                <a:cubicBezTo>
                  <a:pt x="418310" y="371451"/>
                  <a:pt x="371451" y="418310"/>
                  <a:pt x="313733" y="418310"/>
                </a:cubicBezTo>
                <a:lnTo>
                  <a:pt x="104578" y="418310"/>
                </a:lnTo>
                <a:cubicBezTo>
                  <a:pt x="46860" y="418310"/>
                  <a:pt x="0" y="371451"/>
                  <a:pt x="0" y="313733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658839" y="1565178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0" y="87148"/>
                </a:moveTo>
                <a:cubicBezTo>
                  <a:pt x="0" y="39050"/>
                  <a:pt x="39050" y="0"/>
                  <a:pt x="87148" y="0"/>
                </a:cubicBezTo>
                <a:cubicBezTo>
                  <a:pt x="135246" y="0"/>
                  <a:pt x="174296" y="39050"/>
                  <a:pt x="174296" y="87148"/>
                </a:cubicBezTo>
                <a:cubicBezTo>
                  <a:pt x="174296" y="135246"/>
                  <a:pt x="135246" y="174296"/>
                  <a:pt x="87148" y="174296"/>
                </a:cubicBezTo>
                <a:cubicBezTo>
                  <a:pt x="39050" y="174296"/>
                  <a:pt x="0" y="135246"/>
                  <a:pt x="0" y="87148"/>
                </a:cubicBezTo>
                <a:close/>
                <a:moveTo>
                  <a:pt x="98041" y="32680"/>
                </a:moveTo>
                <a:cubicBezTo>
                  <a:pt x="98041" y="26668"/>
                  <a:pt x="93160" y="21787"/>
                  <a:pt x="87148" y="21787"/>
                </a:cubicBezTo>
                <a:cubicBezTo>
                  <a:pt x="81136" y="21787"/>
                  <a:pt x="76254" y="26668"/>
                  <a:pt x="76254" y="32680"/>
                </a:cubicBezTo>
                <a:cubicBezTo>
                  <a:pt x="76254" y="38693"/>
                  <a:pt x="81136" y="43574"/>
                  <a:pt x="87148" y="43574"/>
                </a:cubicBezTo>
                <a:cubicBezTo>
                  <a:pt x="93160" y="43574"/>
                  <a:pt x="98041" y="38693"/>
                  <a:pt x="98041" y="32680"/>
                </a:cubicBezTo>
                <a:close/>
                <a:moveTo>
                  <a:pt x="87148" y="141615"/>
                </a:moveTo>
                <a:cubicBezTo>
                  <a:pt x="99165" y="141615"/>
                  <a:pt x="108935" y="131845"/>
                  <a:pt x="108935" y="119828"/>
                </a:cubicBezTo>
                <a:cubicBezTo>
                  <a:pt x="108935" y="114314"/>
                  <a:pt x="106892" y="109241"/>
                  <a:pt x="103488" y="105429"/>
                </a:cubicBezTo>
                <a:lnTo>
                  <a:pt x="127148" y="58144"/>
                </a:lnTo>
                <a:cubicBezTo>
                  <a:pt x="129156" y="54093"/>
                  <a:pt x="127522" y="49191"/>
                  <a:pt x="123505" y="47182"/>
                </a:cubicBezTo>
                <a:cubicBezTo>
                  <a:pt x="119488" y="45174"/>
                  <a:pt x="114552" y="46808"/>
                  <a:pt x="112543" y="50825"/>
                </a:cubicBezTo>
                <a:lnTo>
                  <a:pt x="88884" y="98110"/>
                </a:lnTo>
                <a:cubicBezTo>
                  <a:pt x="88305" y="98076"/>
                  <a:pt x="87727" y="98041"/>
                  <a:pt x="87148" y="98041"/>
                </a:cubicBezTo>
                <a:cubicBezTo>
                  <a:pt x="75131" y="98041"/>
                  <a:pt x="65361" y="107812"/>
                  <a:pt x="65361" y="119828"/>
                </a:cubicBezTo>
                <a:cubicBezTo>
                  <a:pt x="65361" y="131845"/>
                  <a:pt x="75131" y="141615"/>
                  <a:pt x="87148" y="141615"/>
                </a:cubicBezTo>
                <a:close/>
                <a:moveTo>
                  <a:pt x="59914" y="49021"/>
                </a:moveTo>
                <a:cubicBezTo>
                  <a:pt x="59914" y="43008"/>
                  <a:pt x="55033" y="38127"/>
                  <a:pt x="49021" y="38127"/>
                </a:cubicBezTo>
                <a:cubicBezTo>
                  <a:pt x="43008" y="38127"/>
                  <a:pt x="38127" y="43008"/>
                  <a:pt x="38127" y="49021"/>
                </a:cubicBezTo>
                <a:cubicBezTo>
                  <a:pt x="38127" y="55033"/>
                  <a:pt x="43008" y="59914"/>
                  <a:pt x="49021" y="59914"/>
                </a:cubicBezTo>
                <a:cubicBezTo>
                  <a:pt x="55033" y="59914"/>
                  <a:pt x="59914" y="55033"/>
                  <a:pt x="59914" y="49021"/>
                </a:cubicBezTo>
                <a:close/>
                <a:moveTo>
                  <a:pt x="32680" y="98041"/>
                </a:moveTo>
                <a:cubicBezTo>
                  <a:pt x="38693" y="98041"/>
                  <a:pt x="43574" y="93160"/>
                  <a:pt x="43574" y="87148"/>
                </a:cubicBezTo>
                <a:cubicBezTo>
                  <a:pt x="43574" y="81136"/>
                  <a:pt x="38693" y="76254"/>
                  <a:pt x="32680" y="76254"/>
                </a:cubicBezTo>
                <a:cubicBezTo>
                  <a:pt x="26668" y="76254"/>
                  <a:pt x="21787" y="81136"/>
                  <a:pt x="21787" y="87148"/>
                </a:cubicBezTo>
                <a:cubicBezTo>
                  <a:pt x="21787" y="93160"/>
                  <a:pt x="26668" y="98041"/>
                  <a:pt x="32680" y="98041"/>
                </a:cubicBezTo>
                <a:close/>
                <a:moveTo>
                  <a:pt x="152509" y="87148"/>
                </a:moveTo>
                <a:cubicBezTo>
                  <a:pt x="152509" y="81136"/>
                  <a:pt x="147628" y="76254"/>
                  <a:pt x="141615" y="76254"/>
                </a:cubicBezTo>
                <a:cubicBezTo>
                  <a:pt x="135603" y="76254"/>
                  <a:pt x="130722" y="81136"/>
                  <a:pt x="130722" y="87148"/>
                </a:cubicBezTo>
                <a:cubicBezTo>
                  <a:pt x="130722" y="93160"/>
                  <a:pt x="135603" y="98041"/>
                  <a:pt x="141615" y="98041"/>
                </a:cubicBezTo>
                <a:cubicBezTo>
                  <a:pt x="147628" y="98041"/>
                  <a:pt x="152509" y="93160"/>
                  <a:pt x="152509" y="871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059719" y="1530319"/>
            <a:ext cx="1028346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6831" y="2000918"/>
            <a:ext cx="3433630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6831" y="2314651"/>
            <a:ext cx="3363911" cy="488029"/>
          </a:xfrm>
          <a:custGeom>
            <a:avLst/>
            <a:gdLst/>
            <a:ahLst/>
            <a:cxnLst/>
            <a:rect l="l" t="t" r="r" b="b"/>
            <a:pathLst>
              <a:path w="3363911" h="488029">
                <a:moveTo>
                  <a:pt x="69720" y="0"/>
                </a:moveTo>
                <a:lnTo>
                  <a:pt x="3294192" y="0"/>
                </a:lnTo>
                <a:cubicBezTo>
                  <a:pt x="3332697" y="0"/>
                  <a:pt x="3363911" y="31215"/>
                  <a:pt x="3363911" y="69720"/>
                </a:cubicBezTo>
                <a:lnTo>
                  <a:pt x="3363911" y="418309"/>
                </a:lnTo>
                <a:cubicBezTo>
                  <a:pt x="3363911" y="456814"/>
                  <a:pt x="3332697" y="488029"/>
                  <a:pt x="3294192" y="488029"/>
                </a:cubicBezTo>
                <a:lnTo>
                  <a:pt x="69720" y="488029"/>
                </a:lnTo>
                <a:cubicBezTo>
                  <a:pt x="31215" y="488029"/>
                  <a:pt x="0" y="456814"/>
                  <a:pt x="0" y="418309"/>
                </a:cubicBezTo>
                <a:lnTo>
                  <a:pt x="0" y="69720"/>
                </a:lnTo>
                <a:cubicBezTo>
                  <a:pt x="0" y="31215"/>
                  <a:pt x="31215" y="0"/>
                  <a:pt x="697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6550" y="2384369"/>
            <a:ext cx="3285478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Cards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6550" y="2593524"/>
            <a:ext cx="3276763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Bookings, Amount, Distance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6831" y="2872287"/>
            <a:ext cx="3363911" cy="488029"/>
          </a:xfrm>
          <a:custGeom>
            <a:avLst/>
            <a:gdLst/>
            <a:ahLst/>
            <a:cxnLst/>
            <a:rect l="l" t="t" r="r" b="b"/>
            <a:pathLst>
              <a:path w="3363911" h="488029">
                <a:moveTo>
                  <a:pt x="69720" y="0"/>
                </a:moveTo>
                <a:lnTo>
                  <a:pt x="3294192" y="0"/>
                </a:lnTo>
                <a:cubicBezTo>
                  <a:pt x="3332697" y="0"/>
                  <a:pt x="3363911" y="31215"/>
                  <a:pt x="3363911" y="69720"/>
                </a:cubicBezTo>
                <a:lnTo>
                  <a:pt x="3363911" y="418309"/>
                </a:lnTo>
                <a:cubicBezTo>
                  <a:pt x="3363911" y="456814"/>
                  <a:pt x="3332697" y="488029"/>
                  <a:pt x="3294192" y="488029"/>
                </a:cubicBezTo>
                <a:lnTo>
                  <a:pt x="69720" y="488029"/>
                </a:lnTo>
                <a:cubicBezTo>
                  <a:pt x="31215" y="488029"/>
                  <a:pt x="0" y="456814"/>
                  <a:pt x="0" y="418309"/>
                </a:cubicBezTo>
                <a:lnTo>
                  <a:pt x="0" y="69720"/>
                </a:lnTo>
                <a:cubicBezTo>
                  <a:pt x="0" y="31215"/>
                  <a:pt x="31215" y="0"/>
                  <a:pt x="697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6550" y="2942005"/>
            <a:ext cx="3285478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6550" y="3151161"/>
            <a:ext cx="3276763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values and trends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6831" y="3429928"/>
            <a:ext cx="3363911" cy="488029"/>
          </a:xfrm>
          <a:custGeom>
            <a:avLst/>
            <a:gdLst/>
            <a:ahLst/>
            <a:cxnLst/>
            <a:rect l="l" t="t" r="r" b="b"/>
            <a:pathLst>
              <a:path w="3363911" h="488029">
                <a:moveTo>
                  <a:pt x="69720" y="0"/>
                </a:moveTo>
                <a:lnTo>
                  <a:pt x="3294192" y="0"/>
                </a:lnTo>
                <a:cubicBezTo>
                  <a:pt x="3332697" y="0"/>
                  <a:pt x="3363911" y="31215"/>
                  <a:pt x="3363911" y="69720"/>
                </a:cubicBezTo>
                <a:lnTo>
                  <a:pt x="3363911" y="418309"/>
                </a:lnTo>
                <a:cubicBezTo>
                  <a:pt x="3363911" y="456814"/>
                  <a:pt x="3332697" y="488029"/>
                  <a:pt x="3294192" y="488029"/>
                </a:cubicBezTo>
                <a:lnTo>
                  <a:pt x="69720" y="488029"/>
                </a:lnTo>
                <a:cubicBezTo>
                  <a:pt x="31215" y="488029"/>
                  <a:pt x="0" y="456814"/>
                  <a:pt x="0" y="418309"/>
                </a:cubicBezTo>
                <a:lnTo>
                  <a:pt x="0" y="69720"/>
                </a:lnTo>
                <a:cubicBezTo>
                  <a:pt x="0" y="31215"/>
                  <a:pt x="31215" y="0"/>
                  <a:pt x="697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6550" y="3499646"/>
            <a:ext cx="3285478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High-Level Summary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6550" y="3708801"/>
            <a:ext cx="3276763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view of operations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2078" y="4249009"/>
            <a:ext cx="3728190" cy="1758646"/>
          </a:xfrm>
          <a:custGeom>
            <a:avLst/>
            <a:gdLst/>
            <a:ahLst/>
            <a:cxnLst/>
            <a:rect l="l" t="t" r="r" b="b"/>
            <a:pathLst>
              <a:path w="3728190" h="1758646">
                <a:moveTo>
                  <a:pt x="104569" y="0"/>
                </a:moveTo>
                <a:lnTo>
                  <a:pt x="3623621" y="0"/>
                </a:lnTo>
                <a:cubicBezTo>
                  <a:pt x="3681373" y="0"/>
                  <a:pt x="3728190" y="46817"/>
                  <a:pt x="3728190" y="104569"/>
                </a:cubicBezTo>
                <a:lnTo>
                  <a:pt x="3728190" y="1654077"/>
                </a:lnTo>
                <a:cubicBezTo>
                  <a:pt x="3728190" y="1711829"/>
                  <a:pt x="3681373" y="1758646"/>
                  <a:pt x="3623621" y="1758646"/>
                </a:cubicBezTo>
                <a:lnTo>
                  <a:pt x="104569" y="1758646"/>
                </a:lnTo>
                <a:cubicBezTo>
                  <a:pt x="46817" y="1758646"/>
                  <a:pt x="0" y="1711829"/>
                  <a:pt x="0" y="1654077"/>
                </a:cubicBezTo>
                <a:lnTo>
                  <a:pt x="0" y="104569"/>
                </a:lnTo>
                <a:cubicBezTo>
                  <a:pt x="0" y="46856"/>
                  <a:pt x="46856" y="0"/>
                  <a:pt x="10456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787" y="4426789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10893" y="21787"/>
                </a:moveTo>
                <a:cubicBezTo>
                  <a:pt x="4868" y="21787"/>
                  <a:pt x="0" y="26655"/>
                  <a:pt x="0" y="32680"/>
                </a:cubicBezTo>
                <a:cubicBezTo>
                  <a:pt x="0" y="38706"/>
                  <a:pt x="4868" y="43574"/>
                  <a:pt x="10893" y="43574"/>
                </a:cubicBezTo>
                <a:lnTo>
                  <a:pt x="40408" y="43574"/>
                </a:lnTo>
                <a:cubicBezTo>
                  <a:pt x="44595" y="53208"/>
                  <a:pt x="54195" y="59914"/>
                  <a:pt x="65361" y="59914"/>
                </a:cubicBezTo>
                <a:cubicBezTo>
                  <a:pt x="76527" y="59914"/>
                  <a:pt x="86127" y="53208"/>
                  <a:pt x="90314" y="43574"/>
                </a:cubicBezTo>
                <a:lnTo>
                  <a:pt x="163402" y="43574"/>
                </a:lnTo>
                <a:cubicBezTo>
                  <a:pt x="169428" y="43574"/>
                  <a:pt x="174296" y="38706"/>
                  <a:pt x="174296" y="32680"/>
                </a:cubicBezTo>
                <a:cubicBezTo>
                  <a:pt x="174296" y="26655"/>
                  <a:pt x="169428" y="21787"/>
                  <a:pt x="163402" y="21787"/>
                </a:cubicBezTo>
                <a:lnTo>
                  <a:pt x="90314" y="21787"/>
                </a:lnTo>
                <a:cubicBezTo>
                  <a:pt x="86127" y="12153"/>
                  <a:pt x="76527" y="5447"/>
                  <a:pt x="65361" y="5447"/>
                </a:cubicBezTo>
                <a:cubicBezTo>
                  <a:pt x="54195" y="5447"/>
                  <a:pt x="44595" y="12153"/>
                  <a:pt x="40408" y="21787"/>
                </a:cubicBezTo>
                <a:lnTo>
                  <a:pt x="10893" y="21787"/>
                </a:lnTo>
                <a:close/>
                <a:moveTo>
                  <a:pt x="10893" y="76254"/>
                </a:moveTo>
                <a:cubicBezTo>
                  <a:pt x="4868" y="76254"/>
                  <a:pt x="0" y="81122"/>
                  <a:pt x="0" y="87148"/>
                </a:cubicBezTo>
                <a:cubicBezTo>
                  <a:pt x="0" y="93173"/>
                  <a:pt x="4868" y="98041"/>
                  <a:pt x="10893" y="98041"/>
                </a:cubicBezTo>
                <a:lnTo>
                  <a:pt x="94876" y="98041"/>
                </a:lnTo>
                <a:cubicBezTo>
                  <a:pt x="99063" y="107675"/>
                  <a:pt x="108663" y="114382"/>
                  <a:pt x="119828" y="114382"/>
                </a:cubicBezTo>
                <a:cubicBezTo>
                  <a:pt x="130994" y="114382"/>
                  <a:pt x="140594" y="107675"/>
                  <a:pt x="144781" y="98041"/>
                </a:cubicBezTo>
                <a:lnTo>
                  <a:pt x="163402" y="98041"/>
                </a:lnTo>
                <a:cubicBezTo>
                  <a:pt x="169428" y="98041"/>
                  <a:pt x="174296" y="93173"/>
                  <a:pt x="174296" y="87148"/>
                </a:cubicBezTo>
                <a:cubicBezTo>
                  <a:pt x="174296" y="81122"/>
                  <a:pt x="169428" y="76254"/>
                  <a:pt x="163402" y="76254"/>
                </a:cubicBezTo>
                <a:lnTo>
                  <a:pt x="144781" y="76254"/>
                </a:lnTo>
                <a:cubicBezTo>
                  <a:pt x="140594" y="66621"/>
                  <a:pt x="130994" y="59914"/>
                  <a:pt x="119828" y="59914"/>
                </a:cubicBezTo>
                <a:cubicBezTo>
                  <a:pt x="108663" y="59914"/>
                  <a:pt x="99063" y="66621"/>
                  <a:pt x="94876" y="76254"/>
                </a:cubicBezTo>
                <a:lnTo>
                  <a:pt x="10893" y="76254"/>
                </a:lnTo>
                <a:close/>
                <a:moveTo>
                  <a:pt x="10893" y="130722"/>
                </a:moveTo>
                <a:cubicBezTo>
                  <a:pt x="4868" y="130722"/>
                  <a:pt x="0" y="135590"/>
                  <a:pt x="0" y="141615"/>
                </a:cubicBezTo>
                <a:cubicBezTo>
                  <a:pt x="0" y="147641"/>
                  <a:pt x="4868" y="152509"/>
                  <a:pt x="10893" y="152509"/>
                </a:cubicBezTo>
                <a:lnTo>
                  <a:pt x="29515" y="152509"/>
                </a:lnTo>
                <a:cubicBezTo>
                  <a:pt x="33702" y="162143"/>
                  <a:pt x="43302" y="168849"/>
                  <a:pt x="54467" y="168849"/>
                </a:cubicBezTo>
                <a:cubicBezTo>
                  <a:pt x="65633" y="168849"/>
                  <a:pt x="75233" y="162143"/>
                  <a:pt x="79420" y="152509"/>
                </a:cubicBezTo>
                <a:lnTo>
                  <a:pt x="163402" y="152509"/>
                </a:lnTo>
                <a:cubicBezTo>
                  <a:pt x="169428" y="152509"/>
                  <a:pt x="174296" y="147641"/>
                  <a:pt x="174296" y="141615"/>
                </a:cubicBezTo>
                <a:cubicBezTo>
                  <a:pt x="174296" y="135590"/>
                  <a:pt x="169428" y="130722"/>
                  <a:pt x="163402" y="130722"/>
                </a:cubicBezTo>
                <a:lnTo>
                  <a:pt x="79420" y="130722"/>
                </a:lnTo>
                <a:cubicBezTo>
                  <a:pt x="75233" y="121088"/>
                  <a:pt x="65633" y="114382"/>
                  <a:pt x="54467" y="114382"/>
                </a:cubicBezTo>
                <a:cubicBezTo>
                  <a:pt x="43302" y="114382"/>
                  <a:pt x="33702" y="121088"/>
                  <a:pt x="29515" y="130722"/>
                </a:cubicBezTo>
                <a:lnTo>
                  <a:pt x="10893" y="130722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817448" y="4391930"/>
            <a:ext cx="1272360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Filters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5000" y="4740522"/>
            <a:ext cx="1690670" cy="522888"/>
          </a:xfrm>
          <a:custGeom>
            <a:avLst/>
            <a:gdLst/>
            <a:ahLst/>
            <a:cxnLst/>
            <a:rect l="l" t="t" r="r" b="b"/>
            <a:pathLst>
              <a:path w="1690670" h="522888">
                <a:moveTo>
                  <a:pt x="69717" y="0"/>
                </a:moveTo>
                <a:lnTo>
                  <a:pt x="1620954" y="0"/>
                </a:lnTo>
                <a:cubicBezTo>
                  <a:pt x="1659457" y="0"/>
                  <a:pt x="1690670" y="31213"/>
                  <a:pt x="1690670" y="69717"/>
                </a:cubicBezTo>
                <a:lnTo>
                  <a:pt x="1690670" y="453171"/>
                </a:lnTo>
                <a:cubicBezTo>
                  <a:pt x="1690670" y="491675"/>
                  <a:pt x="1659457" y="522888"/>
                  <a:pt x="1620954" y="522888"/>
                </a:cubicBezTo>
                <a:lnTo>
                  <a:pt x="69717" y="522888"/>
                </a:lnTo>
                <a:cubicBezTo>
                  <a:pt x="31239" y="522888"/>
                  <a:pt x="0" y="491649"/>
                  <a:pt x="0" y="453171"/>
                </a:cubicBezTo>
                <a:lnTo>
                  <a:pt x="0" y="69717"/>
                </a:lnTo>
                <a:cubicBezTo>
                  <a:pt x="0" y="31239"/>
                  <a:pt x="31239" y="0"/>
                  <a:pt x="6971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72578" y="4831159"/>
            <a:ext cx="137258" cy="156866"/>
          </a:xfrm>
          <a:custGeom>
            <a:avLst/>
            <a:gdLst/>
            <a:ahLst/>
            <a:cxnLst/>
            <a:rect l="l" t="t" r="r" b="b"/>
            <a:pathLst>
              <a:path w="137258" h="156866">
                <a:moveTo>
                  <a:pt x="39217" y="0"/>
                </a:moveTo>
                <a:cubicBezTo>
                  <a:pt x="33794" y="0"/>
                  <a:pt x="29412" y="4381"/>
                  <a:pt x="29412" y="9804"/>
                </a:cubicBezTo>
                <a:lnTo>
                  <a:pt x="29412" y="19608"/>
                </a:lnTo>
                <a:lnTo>
                  <a:pt x="19608" y="19608"/>
                </a:lnTo>
                <a:cubicBezTo>
                  <a:pt x="8793" y="19608"/>
                  <a:pt x="0" y="28401"/>
                  <a:pt x="0" y="39217"/>
                </a:cubicBezTo>
                <a:lnTo>
                  <a:pt x="0" y="53923"/>
                </a:lnTo>
                <a:lnTo>
                  <a:pt x="137258" y="53923"/>
                </a:lnTo>
                <a:lnTo>
                  <a:pt x="137258" y="39217"/>
                </a:lnTo>
                <a:cubicBezTo>
                  <a:pt x="137258" y="28401"/>
                  <a:pt x="128465" y="19608"/>
                  <a:pt x="117650" y="19608"/>
                </a:cubicBezTo>
                <a:lnTo>
                  <a:pt x="107846" y="19608"/>
                </a:lnTo>
                <a:lnTo>
                  <a:pt x="107846" y="9804"/>
                </a:lnTo>
                <a:cubicBezTo>
                  <a:pt x="107846" y="4381"/>
                  <a:pt x="103464" y="0"/>
                  <a:pt x="98041" y="0"/>
                </a:cubicBezTo>
                <a:cubicBezTo>
                  <a:pt x="92619" y="0"/>
                  <a:pt x="88237" y="4381"/>
                  <a:pt x="88237" y="9804"/>
                </a:cubicBezTo>
                <a:lnTo>
                  <a:pt x="88237" y="19608"/>
                </a:lnTo>
                <a:lnTo>
                  <a:pt x="49021" y="19608"/>
                </a:lnTo>
                <a:lnTo>
                  <a:pt x="49021" y="9804"/>
                </a:lnTo>
                <a:cubicBezTo>
                  <a:pt x="49021" y="4381"/>
                  <a:pt x="44640" y="0"/>
                  <a:pt x="39217" y="0"/>
                </a:cubicBezTo>
                <a:close/>
                <a:moveTo>
                  <a:pt x="0" y="68629"/>
                </a:moveTo>
                <a:lnTo>
                  <a:pt x="0" y="127454"/>
                </a:lnTo>
                <a:cubicBezTo>
                  <a:pt x="0" y="138269"/>
                  <a:pt x="8793" y="147062"/>
                  <a:pt x="19608" y="147062"/>
                </a:cubicBezTo>
                <a:lnTo>
                  <a:pt x="117650" y="147062"/>
                </a:lnTo>
                <a:cubicBezTo>
                  <a:pt x="128465" y="147062"/>
                  <a:pt x="137258" y="138269"/>
                  <a:pt x="137258" y="127454"/>
                </a:cubicBezTo>
                <a:lnTo>
                  <a:pt x="137258" y="68629"/>
                </a:lnTo>
                <a:lnTo>
                  <a:pt x="0" y="6862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34217" y="5022884"/>
            <a:ext cx="1612237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252884" y="4740522"/>
            <a:ext cx="1690670" cy="522888"/>
          </a:xfrm>
          <a:custGeom>
            <a:avLst/>
            <a:gdLst/>
            <a:ahLst/>
            <a:cxnLst/>
            <a:rect l="l" t="t" r="r" b="b"/>
            <a:pathLst>
              <a:path w="1690670" h="522888">
                <a:moveTo>
                  <a:pt x="69717" y="0"/>
                </a:moveTo>
                <a:lnTo>
                  <a:pt x="1620954" y="0"/>
                </a:lnTo>
                <a:cubicBezTo>
                  <a:pt x="1659457" y="0"/>
                  <a:pt x="1690670" y="31213"/>
                  <a:pt x="1690670" y="69717"/>
                </a:cubicBezTo>
                <a:lnTo>
                  <a:pt x="1690670" y="453171"/>
                </a:lnTo>
                <a:cubicBezTo>
                  <a:pt x="1690670" y="491675"/>
                  <a:pt x="1659457" y="522888"/>
                  <a:pt x="1620954" y="522888"/>
                </a:cubicBezTo>
                <a:lnTo>
                  <a:pt x="69717" y="522888"/>
                </a:lnTo>
                <a:cubicBezTo>
                  <a:pt x="31239" y="522888"/>
                  <a:pt x="0" y="491649"/>
                  <a:pt x="0" y="453171"/>
                </a:cubicBezTo>
                <a:lnTo>
                  <a:pt x="0" y="69717"/>
                </a:lnTo>
                <a:cubicBezTo>
                  <a:pt x="0" y="31239"/>
                  <a:pt x="31239" y="0"/>
                  <a:pt x="6971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40266" y="4831159"/>
            <a:ext cx="117650" cy="156866"/>
          </a:xfrm>
          <a:custGeom>
            <a:avLst/>
            <a:gdLst/>
            <a:ahLst/>
            <a:cxnLst/>
            <a:rect l="l" t="t" r="r" b="b"/>
            <a:pathLst>
              <a:path w="117650" h="156866">
                <a:moveTo>
                  <a:pt x="0" y="57783"/>
                </a:moveTo>
                <a:cubicBezTo>
                  <a:pt x="0" y="25858"/>
                  <a:pt x="26349" y="0"/>
                  <a:pt x="58825" y="0"/>
                </a:cubicBezTo>
                <a:cubicBezTo>
                  <a:pt x="91301" y="0"/>
                  <a:pt x="117650" y="25858"/>
                  <a:pt x="117650" y="57783"/>
                </a:cubicBezTo>
                <a:cubicBezTo>
                  <a:pt x="117650" y="94334"/>
                  <a:pt x="80823" y="138147"/>
                  <a:pt x="65443" y="154844"/>
                </a:cubicBezTo>
                <a:cubicBezTo>
                  <a:pt x="61827" y="158766"/>
                  <a:pt x="55792" y="158766"/>
                  <a:pt x="52176" y="154844"/>
                </a:cubicBezTo>
                <a:cubicBezTo>
                  <a:pt x="36796" y="138147"/>
                  <a:pt x="-31" y="94334"/>
                  <a:pt x="-31" y="57783"/>
                </a:cubicBezTo>
                <a:close/>
                <a:moveTo>
                  <a:pt x="58825" y="78433"/>
                </a:moveTo>
                <a:cubicBezTo>
                  <a:pt x="69647" y="78433"/>
                  <a:pt x="78433" y="69647"/>
                  <a:pt x="78433" y="58825"/>
                </a:cubicBezTo>
                <a:cubicBezTo>
                  <a:pt x="78433" y="48003"/>
                  <a:pt x="69647" y="39217"/>
                  <a:pt x="58825" y="39217"/>
                </a:cubicBezTo>
                <a:cubicBezTo>
                  <a:pt x="48003" y="39217"/>
                  <a:pt x="39217" y="48003"/>
                  <a:pt x="39217" y="58825"/>
                </a:cubicBezTo>
                <a:cubicBezTo>
                  <a:pt x="39217" y="69647"/>
                  <a:pt x="48003" y="78433"/>
                  <a:pt x="58825" y="7843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5"/>
          <p:cNvSpPr/>
          <p:nvPr/>
        </p:nvSpPr>
        <p:spPr>
          <a:xfrm>
            <a:off x="2292100" y="5022884"/>
            <a:ext cx="1612237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5000" y="5336617"/>
            <a:ext cx="1690670" cy="522888"/>
          </a:xfrm>
          <a:custGeom>
            <a:avLst/>
            <a:gdLst/>
            <a:ahLst/>
            <a:cxnLst/>
            <a:rect l="l" t="t" r="r" b="b"/>
            <a:pathLst>
              <a:path w="1690670" h="522888">
                <a:moveTo>
                  <a:pt x="69717" y="0"/>
                </a:moveTo>
                <a:lnTo>
                  <a:pt x="1620954" y="0"/>
                </a:lnTo>
                <a:cubicBezTo>
                  <a:pt x="1659457" y="0"/>
                  <a:pt x="1690670" y="31213"/>
                  <a:pt x="1690670" y="69717"/>
                </a:cubicBezTo>
                <a:lnTo>
                  <a:pt x="1690670" y="453171"/>
                </a:lnTo>
                <a:cubicBezTo>
                  <a:pt x="1690670" y="491675"/>
                  <a:pt x="1659457" y="522888"/>
                  <a:pt x="1620954" y="522888"/>
                </a:cubicBezTo>
                <a:lnTo>
                  <a:pt x="69717" y="522888"/>
                </a:lnTo>
                <a:cubicBezTo>
                  <a:pt x="31239" y="522888"/>
                  <a:pt x="0" y="491649"/>
                  <a:pt x="0" y="453171"/>
                </a:cubicBezTo>
                <a:lnTo>
                  <a:pt x="0" y="69717"/>
                </a:lnTo>
                <a:cubicBezTo>
                  <a:pt x="0" y="31239"/>
                  <a:pt x="31239" y="0"/>
                  <a:pt x="6971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52970" y="5427250"/>
            <a:ext cx="176475" cy="156866"/>
          </a:xfrm>
          <a:custGeom>
            <a:avLst/>
            <a:gdLst/>
            <a:ahLst/>
            <a:cxnLst/>
            <a:rect l="l" t="t" r="r" b="b"/>
            <a:pathLst>
              <a:path w="176475" h="156866">
                <a:moveTo>
                  <a:pt x="98041" y="0"/>
                </a:moveTo>
                <a:cubicBezTo>
                  <a:pt x="87226" y="0"/>
                  <a:pt x="78433" y="8793"/>
                  <a:pt x="78433" y="19608"/>
                </a:cubicBezTo>
                <a:lnTo>
                  <a:pt x="78433" y="29412"/>
                </a:lnTo>
                <a:lnTo>
                  <a:pt x="63727" y="29412"/>
                </a:lnTo>
                <a:lnTo>
                  <a:pt x="63727" y="7353"/>
                </a:lnTo>
                <a:cubicBezTo>
                  <a:pt x="63727" y="3278"/>
                  <a:pt x="60449" y="0"/>
                  <a:pt x="56374" y="0"/>
                </a:cubicBezTo>
                <a:cubicBezTo>
                  <a:pt x="52299" y="0"/>
                  <a:pt x="49021" y="3278"/>
                  <a:pt x="49021" y="7353"/>
                </a:cubicBezTo>
                <a:lnTo>
                  <a:pt x="49021" y="29412"/>
                </a:lnTo>
                <a:lnTo>
                  <a:pt x="29412" y="29412"/>
                </a:lnTo>
                <a:lnTo>
                  <a:pt x="29412" y="7353"/>
                </a:lnTo>
                <a:cubicBezTo>
                  <a:pt x="29412" y="3278"/>
                  <a:pt x="26134" y="0"/>
                  <a:pt x="22059" y="0"/>
                </a:cubicBezTo>
                <a:cubicBezTo>
                  <a:pt x="17984" y="0"/>
                  <a:pt x="14706" y="3278"/>
                  <a:pt x="14706" y="7353"/>
                </a:cubicBezTo>
                <a:lnTo>
                  <a:pt x="14706" y="30025"/>
                </a:lnTo>
                <a:cubicBezTo>
                  <a:pt x="6250" y="32200"/>
                  <a:pt x="0" y="39891"/>
                  <a:pt x="0" y="49021"/>
                </a:cubicBezTo>
                <a:lnTo>
                  <a:pt x="0" y="137258"/>
                </a:lnTo>
                <a:cubicBezTo>
                  <a:pt x="0" y="148073"/>
                  <a:pt x="8793" y="156866"/>
                  <a:pt x="19608" y="156866"/>
                </a:cubicBezTo>
                <a:lnTo>
                  <a:pt x="156866" y="156866"/>
                </a:lnTo>
                <a:cubicBezTo>
                  <a:pt x="167682" y="156866"/>
                  <a:pt x="176475" y="148073"/>
                  <a:pt x="176475" y="137258"/>
                </a:cubicBezTo>
                <a:lnTo>
                  <a:pt x="176475" y="78433"/>
                </a:lnTo>
                <a:cubicBezTo>
                  <a:pt x="176475" y="67618"/>
                  <a:pt x="167682" y="58825"/>
                  <a:pt x="156866" y="58825"/>
                </a:cubicBezTo>
                <a:lnTo>
                  <a:pt x="137258" y="58825"/>
                </a:lnTo>
                <a:lnTo>
                  <a:pt x="137258" y="19608"/>
                </a:lnTo>
                <a:cubicBezTo>
                  <a:pt x="137258" y="8793"/>
                  <a:pt x="128465" y="0"/>
                  <a:pt x="117650" y="0"/>
                </a:cubicBezTo>
                <a:lnTo>
                  <a:pt x="98041" y="0"/>
                </a:lnTo>
                <a:close/>
                <a:moveTo>
                  <a:pt x="117650" y="34315"/>
                </a:moveTo>
                <a:lnTo>
                  <a:pt x="117650" y="44119"/>
                </a:lnTo>
                <a:cubicBezTo>
                  <a:pt x="117650" y="46815"/>
                  <a:pt x="115444" y="49021"/>
                  <a:pt x="112748" y="49021"/>
                </a:cubicBezTo>
                <a:lnTo>
                  <a:pt x="102944" y="49021"/>
                </a:lnTo>
                <a:cubicBezTo>
                  <a:pt x="100247" y="49021"/>
                  <a:pt x="98041" y="46815"/>
                  <a:pt x="98041" y="44119"/>
                </a:cubicBezTo>
                <a:lnTo>
                  <a:pt x="98041" y="34315"/>
                </a:lnTo>
                <a:cubicBezTo>
                  <a:pt x="98041" y="31618"/>
                  <a:pt x="100247" y="29412"/>
                  <a:pt x="102944" y="29412"/>
                </a:cubicBezTo>
                <a:lnTo>
                  <a:pt x="112748" y="29412"/>
                </a:lnTo>
                <a:cubicBezTo>
                  <a:pt x="115444" y="29412"/>
                  <a:pt x="117650" y="31618"/>
                  <a:pt x="117650" y="34315"/>
                </a:cubicBezTo>
                <a:close/>
                <a:moveTo>
                  <a:pt x="112748" y="58825"/>
                </a:moveTo>
                <a:cubicBezTo>
                  <a:pt x="115444" y="58825"/>
                  <a:pt x="117650" y="61031"/>
                  <a:pt x="117650" y="63727"/>
                </a:cubicBezTo>
                <a:lnTo>
                  <a:pt x="117650" y="73531"/>
                </a:lnTo>
                <a:cubicBezTo>
                  <a:pt x="117650" y="76227"/>
                  <a:pt x="115444" y="78433"/>
                  <a:pt x="112748" y="78433"/>
                </a:cubicBezTo>
                <a:lnTo>
                  <a:pt x="102944" y="78433"/>
                </a:lnTo>
                <a:cubicBezTo>
                  <a:pt x="100247" y="78433"/>
                  <a:pt x="98041" y="76227"/>
                  <a:pt x="98041" y="73531"/>
                </a:cubicBezTo>
                <a:lnTo>
                  <a:pt x="98041" y="63727"/>
                </a:lnTo>
                <a:cubicBezTo>
                  <a:pt x="98041" y="61031"/>
                  <a:pt x="100247" y="58825"/>
                  <a:pt x="102944" y="58825"/>
                </a:cubicBezTo>
                <a:lnTo>
                  <a:pt x="112748" y="58825"/>
                </a:lnTo>
                <a:close/>
                <a:moveTo>
                  <a:pt x="117650" y="93139"/>
                </a:moveTo>
                <a:lnTo>
                  <a:pt x="117650" y="102944"/>
                </a:lnTo>
                <a:cubicBezTo>
                  <a:pt x="117650" y="105640"/>
                  <a:pt x="115444" y="107846"/>
                  <a:pt x="112748" y="107846"/>
                </a:cubicBezTo>
                <a:lnTo>
                  <a:pt x="102944" y="107846"/>
                </a:lnTo>
                <a:cubicBezTo>
                  <a:pt x="100247" y="107846"/>
                  <a:pt x="98041" y="105640"/>
                  <a:pt x="98041" y="102944"/>
                </a:cubicBezTo>
                <a:lnTo>
                  <a:pt x="98041" y="93139"/>
                </a:lnTo>
                <a:cubicBezTo>
                  <a:pt x="98041" y="90443"/>
                  <a:pt x="100247" y="88237"/>
                  <a:pt x="102944" y="88237"/>
                </a:cubicBezTo>
                <a:lnTo>
                  <a:pt x="112748" y="88237"/>
                </a:lnTo>
                <a:cubicBezTo>
                  <a:pt x="115444" y="88237"/>
                  <a:pt x="117650" y="90443"/>
                  <a:pt x="117650" y="93139"/>
                </a:cubicBezTo>
                <a:close/>
                <a:moveTo>
                  <a:pt x="151964" y="88237"/>
                </a:moveTo>
                <a:cubicBezTo>
                  <a:pt x="154660" y="88237"/>
                  <a:pt x="156866" y="90443"/>
                  <a:pt x="156866" y="93139"/>
                </a:cubicBezTo>
                <a:lnTo>
                  <a:pt x="156866" y="102944"/>
                </a:lnTo>
                <a:cubicBezTo>
                  <a:pt x="156866" y="105640"/>
                  <a:pt x="154660" y="107846"/>
                  <a:pt x="151964" y="107846"/>
                </a:cubicBezTo>
                <a:lnTo>
                  <a:pt x="142160" y="107846"/>
                </a:lnTo>
                <a:cubicBezTo>
                  <a:pt x="139464" y="107846"/>
                  <a:pt x="137258" y="105640"/>
                  <a:pt x="137258" y="102944"/>
                </a:cubicBezTo>
                <a:lnTo>
                  <a:pt x="137258" y="93139"/>
                </a:lnTo>
                <a:cubicBezTo>
                  <a:pt x="137258" y="90443"/>
                  <a:pt x="139464" y="88237"/>
                  <a:pt x="142160" y="88237"/>
                </a:cubicBezTo>
                <a:lnTo>
                  <a:pt x="151964" y="88237"/>
                </a:lnTo>
                <a:close/>
                <a:moveTo>
                  <a:pt x="78433" y="93139"/>
                </a:moveTo>
                <a:lnTo>
                  <a:pt x="78433" y="102944"/>
                </a:lnTo>
                <a:cubicBezTo>
                  <a:pt x="78433" y="105640"/>
                  <a:pt x="76227" y="107846"/>
                  <a:pt x="73531" y="107846"/>
                </a:cubicBezTo>
                <a:lnTo>
                  <a:pt x="63727" y="107846"/>
                </a:lnTo>
                <a:cubicBezTo>
                  <a:pt x="61031" y="107846"/>
                  <a:pt x="58825" y="105640"/>
                  <a:pt x="58825" y="102944"/>
                </a:cubicBezTo>
                <a:lnTo>
                  <a:pt x="58825" y="93139"/>
                </a:lnTo>
                <a:cubicBezTo>
                  <a:pt x="58825" y="90443"/>
                  <a:pt x="61031" y="88237"/>
                  <a:pt x="63727" y="88237"/>
                </a:cubicBezTo>
                <a:lnTo>
                  <a:pt x="73531" y="88237"/>
                </a:lnTo>
                <a:cubicBezTo>
                  <a:pt x="76227" y="88237"/>
                  <a:pt x="78433" y="90443"/>
                  <a:pt x="78433" y="93139"/>
                </a:cubicBezTo>
                <a:close/>
                <a:moveTo>
                  <a:pt x="73531" y="58825"/>
                </a:moveTo>
                <a:cubicBezTo>
                  <a:pt x="76227" y="58825"/>
                  <a:pt x="78433" y="61031"/>
                  <a:pt x="78433" y="63727"/>
                </a:cubicBezTo>
                <a:lnTo>
                  <a:pt x="78433" y="73531"/>
                </a:lnTo>
                <a:cubicBezTo>
                  <a:pt x="78433" y="76227"/>
                  <a:pt x="76227" y="78433"/>
                  <a:pt x="73531" y="78433"/>
                </a:cubicBezTo>
                <a:lnTo>
                  <a:pt x="63727" y="78433"/>
                </a:lnTo>
                <a:cubicBezTo>
                  <a:pt x="61031" y="78433"/>
                  <a:pt x="58825" y="76227"/>
                  <a:pt x="58825" y="73531"/>
                </a:cubicBezTo>
                <a:lnTo>
                  <a:pt x="58825" y="63727"/>
                </a:lnTo>
                <a:cubicBezTo>
                  <a:pt x="58825" y="61031"/>
                  <a:pt x="61031" y="58825"/>
                  <a:pt x="63727" y="58825"/>
                </a:cubicBezTo>
                <a:lnTo>
                  <a:pt x="73531" y="58825"/>
                </a:lnTo>
                <a:close/>
                <a:moveTo>
                  <a:pt x="39217" y="93139"/>
                </a:moveTo>
                <a:lnTo>
                  <a:pt x="39217" y="102944"/>
                </a:lnTo>
                <a:cubicBezTo>
                  <a:pt x="39217" y="105640"/>
                  <a:pt x="37011" y="107846"/>
                  <a:pt x="34315" y="107846"/>
                </a:cubicBezTo>
                <a:lnTo>
                  <a:pt x="24510" y="107846"/>
                </a:lnTo>
                <a:cubicBezTo>
                  <a:pt x="21814" y="107846"/>
                  <a:pt x="19608" y="105640"/>
                  <a:pt x="19608" y="102944"/>
                </a:cubicBezTo>
                <a:lnTo>
                  <a:pt x="19608" y="93139"/>
                </a:lnTo>
                <a:cubicBezTo>
                  <a:pt x="19608" y="90443"/>
                  <a:pt x="21814" y="88237"/>
                  <a:pt x="24510" y="88237"/>
                </a:cubicBezTo>
                <a:lnTo>
                  <a:pt x="34315" y="88237"/>
                </a:lnTo>
                <a:cubicBezTo>
                  <a:pt x="37011" y="88237"/>
                  <a:pt x="39217" y="90443"/>
                  <a:pt x="39217" y="93139"/>
                </a:cubicBezTo>
                <a:close/>
                <a:moveTo>
                  <a:pt x="34315" y="58825"/>
                </a:moveTo>
                <a:cubicBezTo>
                  <a:pt x="37011" y="58825"/>
                  <a:pt x="39217" y="61031"/>
                  <a:pt x="39217" y="63727"/>
                </a:cubicBezTo>
                <a:lnTo>
                  <a:pt x="39217" y="73531"/>
                </a:lnTo>
                <a:cubicBezTo>
                  <a:pt x="39217" y="76227"/>
                  <a:pt x="37011" y="78433"/>
                  <a:pt x="34315" y="78433"/>
                </a:cubicBezTo>
                <a:lnTo>
                  <a:pt x="24510" y="78433"/>
                </a:lnTo>
                <a:cubicBezTo>
                  <a:pt x="21814" y="78433"/>
                  <a:pt x="19608" y="76227"/>
                  <a:pt x="19608" y="73531"/>
                </a:cubicBezTo>
                <a:lnTo>
                  <a:pt x="19608" y="63727"/>
                </a:lnTo>
                <a:cubicBezTo>
                  <a:pt x="19608" y="61031"/>
                  <a:pt x="21814" y="58825"/>
                  <a:pt x="24510" y="58825"/>
                </a:cubicBezTo>
                <a:lnTo>
                  <a:pt x="34315" y="5882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34217" y="5618976"/>
            <a:ext cx="1612237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252884" y="5336617"/>
            <a:ext cx="1690670" cy="522888"/>
          </a:xfrm>
          <a:custGeom>
            <a:avLst/>
            <a:gdLst/>
            <a:ahLst/>
            <a:cxnLst/>
            <a:rect l="l" t="t" r="r" b="b"/>
            <a:pathLst>
              <a:path w="1690670" h="522888">
                <a:moveTo>
                  <a:pt x="69717" y="0"/>
                </a:moveTo>
                <a:lnTo>
                  <a:pt x="1620954" y="0"/>
                </a:lnTo>
                <a:cubicBezTo>
                  <a:pt x="1659457" y="0"/>
                  <a:pt x="1690670" y="31213"/>
                  <a:pt x="1690670" y="69717"/>
                </a:cubicBezTo>
                <a:lnTo>
                  <a:pt x="1690670" y="453171"/>
                </a:lnTo>
                <a:cubicBezTo>
                  <a:pt x="1690670" y="491675"/>
                  <a:pt x="1659457" y="522888"/>
                  <a:pt x="1620954" y="522888"/>
                </a:cubicBezTo>
                <a:lnTo>
                  <a:pt x="69717" y="522888"/>
                </a:lnTo>
                <a:cubicBezTo>
                  <a:pt x="31239" y="522888"/>
                  <a:pt x="0" y="491649"/>
                  <a:pt x="0" y="453171"/>
                </a:cubicBezTo>
                <a:lnTo>
                  <a:pt x="0" y="69717"/>
                </a:lnTo>
                <a:cubicBezTo>
                  <a:pt x="0" y="31239"/>
                  <a:pt x="31239" y="0"/>
                  <a:pt x="6971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20657" y="5427250"/>
            <a:ext cx="156866" cy="156866"/>
          </a:xfrm>
          <a:custGeom>
            <a:avLst/>
            <a:gdLst/>
            <a:ahLst/>
            <a:cxnLst/>
            <a:rect l="l" t="t" r="r" b="b"/>
            <a:pathLst>
              <a:path w="156866" h="156866">
                <a:moveTo>
                  <a:pt x="0" y="39217"/>
                </a:moveTo>
                <a:lnTo>
                  <a:pt x="0" y="49021"/>
                </a:lnTo>
                <a:lnTo>
                  <a:pt x="156866" y="49021"/>
                </a:lnTo>
                <a:lnTo>
                  <a:pt x="156866" y="39217"/>
                </a:lnTo>
                <a:cubicBezTo>
                  <a:pt x="156866" y="28401"/>
                  <a:pt x="148073" y="19608"/>
                  <a:pt x="137258" y="19608"/>
                </a:cubicBezTo>
                <a:lnTo>
                  <a:pt x="19608" y="19608"/>
                </a:lnTo>
                <a:cubicBezTo>
                  <a:pt x="8793" y="19608"/>
                  <a:pt x="0" y="28401"/>
                  <a:pt x="0" y="39217"/>
                </a:cubicBezTo>
                <a:close/>
                <a:moveTo>
                  <a:pt x="0" y="63727"/>
                </a:moveTo>
                <a:lnTo>
                  <a:pt x="0" y="117650"/>
                </a:lnTo>
                <a:cubicBezTo>
                  <a:pt x="0" y="128465"/>
                  <a:pt x="8793" y="137258"/>
                  <a:pt x="19608" y="137258"/>
                </a:cubicBezTo>
                <a:lnTo>
                  <a:pt x="137258" y="137258"/>
                </a:lnTo>
                <a:cubicBezTo>
                  <a:pt x="148073" y="137258"/>
                  <a:pt x="156866" y="128465"/>
                  <a:pt x="156866" y="117650"/>
                </a:cubicBezTo>
                <a:lnTo>
                  <a:pt x="156866" y="63727"/>
                </a:lnTo>
                <a:lnTo>
                  <a:pt x="0" y="63727"/>
                </a:lnTo>
                <a:close/>
                <a:moveTo>
                  <a:pt x="19608" y="110297"/>
                </a:moveTo>
                <a:cubicBezTo>
                  <a:pt x="19608" y="106222"/>
                  <a:pt x="22887" y="102944"/>
                  <a:pt x="26961" y="102944"/>
                </a:cubicBezTo>
                <a:lnTo>
                  <a:pt x="41668" y="102944"/>
                </a:lnTo>
                <a:cubicBezTo>
                  <a:pt x="45742" y="102944"/>
                  <a:pt x="49021" y="106222"/>
                  <a:pt x="49021" y="110297"/>
                </a:cubicBezTo>
                <a:cubicBezTo>
                  <a:pt x="49021" y="114371"/>
                  <a:pt x="45742" y="117650"/>
                  <a:pt x="41668" y="117650"/>
                </a:cubicBezTo>
                <a:lnTo>
                  <a:pt x="26961" y="117650"/>
                </a:lnTo>
                <a:cubicBezTo>
                  <a:pt x="22887" y="117650"/>
                  <a:pt x="19608" y="114371"/>
                  <a:pt x="19608" y="110297"/>
                </a:cubicBezTo>
                <a:close/>
                <a:moveTo>
                  <a:pt x="63727" y="110297"/>
                </a:moveTo>
                <a:cubicBezTo>
                  <a:pt x="63727" y="106222"/>
                  <a:pt x="67005" y="102944"/>
                  <a:pt x="71080" y="102944"/>
                </a:cubicBezTo>
                <a:lnTo>
                  <a:pt x="90688" y="102944"/>
                </a:lnTo>
                <a:cubicBezTo>
                  <a:pt x="94763" y="102944"/>
                  <a:pt x="98041" y="106222"/>
                  <a:pt x="98041" y="110297"/>
                </a:cubicBezTo>
                <a:cubicBezTo>
                  <a:pt x="98041" y="114371"/>
                  <a:pt x="94763" y="117650"/>
                  <a:pt x="90688" y="117650"/>
                </a:cubicBezTo>
                <a:lnTo>
                  <a:pt x="71080" y="117650"/>
                </a:lnTo>
                <a:cubicBezTo>
                  <a:pt x="67005" y="117650"/>
                  <a:pt x="63727" y="114371"/>
                  <a:pt x="63727" y="11029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2292100" y="5618976"/>
            <a:ext cx="1612237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33866" y="1261903"/>
            <a:ext cx="3726447" cy="3055408"/>
          </a:xfrm>
          <a:custGeom>
            <a:avLst/>
            <a:gdLst/>
            <a:ahLst/>
            <a:cxnLst/>
            <a:rect l="l" t="t" r="r" b="b"/>
            <a:pathLst>
              <a:path w="3726447" h="3055408">
                <a:moveTo>
                  <a:pt x="104587" y="0"/>
                </a:moveTo>
                <a:lnTo>
                  <a:pt x="3621860" y="0"/>
                </a:lnTo>
                <a:cubicBezTo>
                  <a:pt x="3679622" y="0"/>
                  <a:pt x="3726447" y="46825"/>
                  <a:pt x="3726447" y="104587"/>
                </a:cubicBezTo>
                <a:lnTo>
                  <a:pt x="3726447" y="2950821"/>
                </a:lnTo>
                <a:cubicBezTo>
                  <a:pt x="3726447" y="3008583"/>
                  <a:pt x="3679622" y="3055408"/>
                  <a:pt x="3621860" y="3055408"/>
                </a:cubicBezTo>
                <a:lnTo>
                  <a:pt x="104587" y="3055408"/>
                </a:lnTo>
                <a:cubicBezTo>
                  <a:pt x="46825" y="3055408"/>
                  <a:pt x="0" y="3008583"/>
                  <a:pt x="0" y="2950821"/>
                </a:cubicBezTo>
                <a:lnTo>
                  <a:pt x="0" y="104587"/>
                </a:lnTo>
                <a:cubicBezTo>
                  <a:pt x="0" y="46864"/>
                  <a:pt x="46864" y="0"/>
                  <a:pt x="104587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2032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15134" y="1443171"/>
            <a:ext cx="418310" cy="418310"/>
          </a:xfrm>
          <a:custGeom>
            <a:avLst/>
            <a:gdLst/>
            <a:ahLst/>
            <a:cxnLst/>
            <a:rect l="l" t="t" r="r" b="b"/>
            <a:pathLst>
              <a:path w="418310" h="418310">
                <a:moveTo>
                  <a:pt x="104578" y="0"/>
                </a:moveTo>
                <a:lnTo>
                  <a:pt x="313733" y="0"/>
                </a:lnTo>
                <a:cubicBezTo>
                  <a:pt x="371451" y="0"/>
                  <a:pt x="418310" y="46860"/>
                  <a:pt x="418310" y="104578"/>
                </a:cubicBezTo>
                <a:lnTo>
                  <a:pt x="418310" y="313733"/>
                </a:lnTo>
                <a:cubicBezTo>
                  <a:pt x="418310" y="371451"/>
                  <a:pt x="371451" y="418310"/>
                  <a:pt x="313733" y="418310"/>
                </a:cubicBezTo>
                <a:lnTo>
                  <a:pt x="104578" y="418310"/>
                </a:lnTo>
                <a:cubicBezTo>
                  <a:pt x="46860" y="418310"/>
                  <a:pt x="0" y="371451"/>
                  <a:pt x="0" y="313733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Shape 34"/>
          <p:cNvSpPr/>
          <p:nvPr/>
        </p:nvSpPr>
        <p:spPr>
          <a:xfrm>
            <a:off x="4537141" y="1565178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87148" y="0"/>
                </a:moveTo>
                <a:cubicBezTo>
                  <a:pt x="135246" y="0"/>
                  <a:pt x="174296" y="39050"/>
                  <a:pt x="174296" y="87148"/>
                </a:cubicBezTo>
                <a:cubicBezTo>
                  <a:pt x="174296" y="135246"/>
                  <a:pt x="135246" y="174296"/>
                  <a:pt x="87148" y="174296"/>
                </a:cubicBezTo>
                <a:cubicBezTo>
                  <a:pt x="39050" y="174296"/>
                  <a:pt x="0" y="135246"/>
                  <a:pt x="0" y="87148"/>
                </a:cubicBezTo>
                <a:cubicBezTo>
                  <a:pt x="0" y="39050"/>
                  <a:pt x="39050" y="0"/>
                  <a:pt x="87148" y="0"/>
                </a:cubicBezTo>
                <a:close/>
                <a:moveTo>
                  <a:pt x="78978" y="40851"/>
                </a:moveTo>
                <a:lnTo>
                  <a:pt x="78978" y="87148"/>
                </a:lnTo>
                <a:cubicBezTo>
                  <a:pt x="78978" y="89871"/>
                  <a:pt x="80340" y="92424"/>
                  <a:pt x="82620" y="93956"/>
                </a:cubicBezTo>
                <a:lnTo>
                  <a:pt x="115301" y="115743"/>
                </a:lnTo>
                <a:cubicBezTo>
                  <a:pt x="119045" y="118263"/>
                  <a:pt x="124118" y="117241"/>
                  <a:pt x="126637" y="113463"/>
                </a:cubicBezTo>
                <a:cubicBezTo>
                  <a:pt x="129156" y="109684"/>
                  <a:pt x="128135" y="104646"/>
                  <a:pt x="124356" y="102127"/>
                </a:cubicBezTo>
                <a:lnTo>
                  <a:pt x="95318" y="82791"/>
                </a:lnTo>
                <a:lnTo>
                  <a:pt x="95318" y="40851"/>
                </a:lnTo>
                <a:cubicBezTo>
                  <a:pt x="95318" y="36323"/>
                  <a:pt x="91676" y="32680"/>
                  <a:pt x="87148" y="32680"/>
                </a:cubicBezTo>
                <a:cubicBezTo>
                  <a:pt x="82620" y="32680"/>
                  <a:pt x="78978" y="36323"/>
                  <a:pt x="78978" y="4085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4938021" y="1530319"/>
            <a:ext cx="1063205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15134" y="2000918"/>
            <a:ext cx="3433630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Analysis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15134" y="2314651"/>
            <a:ext cx="3363911" cy="488029"/>
          </a:xfrm>
          <a:custGeom>
            <a:avLst/>
            <a:gdLst/>
            <a:ahLst/>
            <a:cxnLst/>
            <a:rect l="l" t="t" r="r" b="b"/>
            <a:pathLst>
              <a:path w="3363911" h="488029">
                <a:moveTo>
                  <a:pt x="69720" y="0"/>
                </a:moveTo>
                <a:lnTo>
                  <a:pt x="3294192" y="0"/>
                </a:lnTo>
                <a:cubicBezTo>
                  <a:pt x="3332697" y="0"/>
                  <a:pt x="3363911" y="31215"/>
                  <a:pt x="3363911" y="69720"/>
                </a:cubicBezTo>
                <a:lnTo>
                  <a:pt x="3363911" y="418309"/>
                </a:lnTo>
                <a:cubicBezTo>
                  <a:pt x="3363911" y="456814"/>
                  <a:pt x="3332697" y="488029"/>
                  <a:pt x="3294192" y="488029"/>
                </a:cubicBezTo>
                <a:lnTo>
                  <a:pt x="69720" y="488029"/>
                </a:lnTo>
                <a:cubicBezTo>
                  <a:pt x="31215" y="488029"/>
                  <a:pt x="0" y="456814"/>
                  <a:pt x="0" y="418309"/>
                </a:cubicBezTo>
                <a:lnTo>
                  <a:pt x="0" y="69720"/>
                </a:lnTo>
                <a:cubicBezTo>
                  <a:pt x="0" y="31215"/>
                  <a:pt x="31215" y="0"/>
                  <a:pt x="697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484852" y="2384369"/>
            <a:ext cx="3285478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Trips by Hour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84852" y="2593524"/>
            <a:ext cx="3276763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24-hour demand pattern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15134" y="2872287"/>
            <a:ext cx="3363911" cy="488029"/>
          </a:xfrm>
          <a:custGeom>
            <a:avLst/>
            <a:gdLst/>
            <a:ahLst/>
            <a:cxnLst/>
            <a:rect l="l" t="t" r="r" b="b"/>
            <a:pathLst>
              <a:path w="3363911" h="488029">
                <a:moveTo>
                  <a:pt x="69720" y="0"/>
                </a:moveTo>
                <a:lnTo>
                  <a:pt x="3294192" y="0"/>
                </a:lnTo>
                <a:cubicBezTo>
                  <a:pt x="3332697" y="0"/>
                  <a:pt x="3363911" y="31215"/>
                  <a:pt x="3363911" y="69720"/>
                </a:cubicBezTo>
                <a:lnTo>
                  <a:pt x="3363911" y="418309"/>
                </a:lnTo>
                <a:cubicBezTo>
                  <a:pt x="3363911" y="456814"/>
                  <a:pt x="3332697" y="488029"/>
                  <a:pt x="3294192" y="488029"/>
                </a:cubicBezTo>
                <a:lnTo>
                  <a:pt x="69720" y="488029"/>
                </a:lnTo>
                <a:cubicBezTo>
                  <a:pt x="31215" y="488029"/>
                  <a:pt x="0" y="456814"/>
                  <a:pt x="0" y="418309"/>
                </a:cubicBezTo>
                <a:lnTo>
                  <a:pt x="0" y="69720"/>
                </a:lnTo>
                <a:cubicBezTo>
                  <a:pt x="0" y="31215"/>
                  <a:pt x="31215" y="0"/>
                  <a:pt x="697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484852" y="2942005"/>
            <a:ext cx="3285478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Slot Analysis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84852" y="3151161"/>
            <a:ext cx="3276763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Morning, afternoon, evening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15134" y="3429928"/>
            <a:ext cx="3363911" cy="488029"/>
          </a:xfrm>
          <a:custGeom>
            <a:avLst/>
            <a:gdLst/>
            <a:ahLst/>
            <a:cxnLst/>
            <a:rect l="l" t="t" r="r" b="b"/>
            <a:pathLst>
              <a:path w="3363911" h="488029">
                <a:moveTo>
                  <a:pt x="69720" y="0"/>
                </a:moveTo>
                <a:lnTo>
                  <a:pt x="3294192" y="0"/>
                </a:lnTo>
                <a:cubicBezTo>
                  <a:pt x="3332697" y="0"/>
                  <a:pt x="3363911" y="31215"/>
                  <a:pt x="3363911" y="69720"/>
                </a:cubicBezTo>
                <a:lnTo>
                  <a:pt x="3363911" y="418309"/>
                </a:lnTo>
                <a:cubicBezTo>
                  <a:pt x="3363911" y="456814"/>
                  <a:pt x="3332697" y="488029"/>
                  <a:pt x="3294192" y="488029"/>
                </a:cubicBezTo>
                <a:lnTo>
                  <a:pt x="69720" y="488029"/>
                </a:lnTo>
                <a:cubicBezTo>
                  <a:pt x="31215" y="488029"/>
                  <a:pt x="0" y="456814"/>
                  <a:pt x="0" y="418309"/>
                </a:cubicBezTo>
                <a:lnTo>
                  <a:pt x="0" y="69720"/>
                </a:lnTo>
                <a:cubicBezTo>
                  <a:pt x="0" y="31215"/>
                  <a:pt x="31215" y="0"/>
                  <a:pt x="697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484852" y="3499646"/>
            <a:ext cx="3285478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Trends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84852" y="3708801"/>
            <a:ext cx="3276763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pattern tracking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30380" y="4465134"/>
            <a:ext cx="3728190" cy="1540776"/>
          </a:xfrm>
          <a:custGeom>
            <a:avLst/>
            <a:gdLst/>
            <a:ahLst/>
            <a:cxnLst/>
            <a:rect l="l" t="t" r="r" b="b"/>
            <a:pathLst>
              <a:path w="3728190" h="1540776">
                <a:moveTo>
                  <a:pt x="104572" y="0"/>
                </a:moveTo>
                <a:lnTo>
                  <a:pt x="3623617" y="0"/>
                </a:lnTo>
                <a:cubicBezTo>
                  <a:pt x="3681371" y="0"/>
                  <a:pt x="3728190" y="46819"/>
                  <a:pt x="3728190" y="104572"/>
                </a:cubicBezTo>
                <a:lnTo>
                  <a:pt x="3728190" y="1436204"/>
                </a:lnTo>
                <a:cubicBezTo>
                  <a:pt x="3728190" y="1493957"/>
                  <a:pt x="3681371" y="1540776"/>
                  <a:pt x="3623617" y="1540776"/>
                </a:cubicBezTo>
                <a:lnTo>
                  <a:pt x="104572" y="1540776"/>
                </a:lnTo>
                <a:cubicBezTo>
                  <a:pt x="46819" y="1540776"/>
                  <a:pt x="0" y="1493957"/>
                  <a:pt x="0" y="1436204"/>
                </a:cubicBezTo>
                <a:lnTo>
                  <a:pt x="0" y="104572"/>
                </a:lnTo>
                <a:cubicBezTo>
                  <a:pt x="0" y="46857"/>
                  <a:pt x="46857" y="0"/>
                  <a:pt x="10457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95090" y="4642918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10893" y="10893"/>
                </a:moveTo>
                <a:cubicBezTo>
                  <a:pt x="16919" y="10893"/>
                  <a:pt x="21787" y="15762"/>
                  <a:pt x="21787" y="21787"/>
                </a:cubicBezTo>
                <a:lnTo>
                  <a:pt x="21787" y="136169"/>
                </a:lnTo>
                <a:cubicBezTo>
                  <a:pt x="21787" y="139164"/>
                  <a:pt x="24238" y="141615"/>
                  <a:pt x="27234" y="141615"/>
                </a:cubicBezTo>
                <a:lnTo>
                  <a:pt x="163402" y="141615"/>
                </a:lnTo>
                <a:cubicBezTo>
                  <a:pt x="169428" y="141615"/>
                  <a:pt x="174296" y="146483"/>
                  <a:pt x="174296" y="152509"/>
                </a:cubicBezTo>
                <a:cubicBezTo>
                  <a:pt x="174296" y="158534"/>
                  <a:pt x="169428" y="163402"/>
                  <a:pt x="163402" y="163402"/>
                </a:cubicBezTo>
                <a:lnTo>
                  <a:pt x="27234" y="163402"/>
                </a:lnTo>
                <a:cubicBezTo>
                  <a:pt x="12187" y="163402"/>
                  <a:pt x="0" y="151215"/>
                  <a:pt x="0" y="136169"/>
                </a:cubicBezTo>
                <a:lnTo>
                  <a:pt x="0" y="21787"/>
                </a:lnTo>
                <a:cubicBezTo>
                  <a:pt x="0" y="15762"/>
                  <a:pt x="4868" y="10893"/>
                  <a:pt x="10893" y="10893"/>
                </a:cubicBezTo>
                <a:close/>
                <a:moveTo>
                  <a:pt x="43574" y="32680"/>
                </a:moveTo>
                <a:cubicBezTo>
                  <a:pt x="43574" y="26655"/>
                  <a:pt x="48442" y="21787"/>
                  <a:pt x="54467" y="21787"/>
                </a:cubicBezTo>
                <a:lnTo>
                  <a:pt x="119828" y="21787"/>
                </a:lnTo>
                <a:cubicBezTo>
                  <a:pt x="125854" y="21787"/>
                  <a:pt x="130722" y="26655"/>
                  <a:pt x="130722" y="32680"/>
                </a:cubicBezTo>
                <a:cubicBezTo>
                  <a:pt x="130722" y="38706"/>
                  <a:pt x="125854" y="43574"/>
                  <a:pt x="119828" y="43574"/>
                </a:cubicBezTo>
                <a:lnTo>
                  <a:pt x="54467" y="43574"/>
                </a:lnTo>
                <a:cubicBezTo>
                  <a:pt x="48442" y="43574"/>
                  <a:pt x="43574" y="38706"/>
                  <a:pt x="43574" y="32680"/>
                </a:cubicBezTo>
                <a:close/>
                <a:moveTo>
                  <a:pt x="54467" y="59914"/>
                </a:moveTo>
                <a:lnTo>
                  <a:pt x="98041" y="59914"/>
                </a:lnTo>
                <a:cubicBezTo>
                  <a:pt x="104067" y="59914"/>
                  <a:pt x="108935" y="64782"/>
                  <a:pt x="108935" y="70808"/>
                </a:cubicBezTo>
                <a:cubicBezTo>
                  <a:pt x="108935" y="76833"/>
                  <a:pt x="104067" y="81701"/>
                  <a:pt x="98041" y="81701"/>
                </a:cubicBezTo>
                <a:lnTo>
                  <a:pt x="54467" y="81701"/>
                </a:lnTo>
                <a:cubicBezTo>
                  <a:pt x="48442" y="81701"/>
                  <a:pt x="43574" y="76833"/>
                  <a:pt x="43574" y="70808"/>
                </a:cubicBezTo>
                <a:cubicBezTo>
                  <a:pt x="43574" y="64782"/>
                  <a:pt x="48442" y="59914"/>
                  <a:pt x="54467" y="59914"/>
                </a:cubicBezTo>
                <a:close/>
                <a:moveTo>
                  <a:pt x="54467" y="98041"/>
                </a:moveTo>
                <a:lnTo>
                  <a:pt x="141615" y="98041"/>
                </a:lnTo>
                <a:cubicBezTo>
                  <a:pt x="147641" y="98041"/>
                  <a:pt x="152509" y="102909"/>
                  <a:pt x="152509" y="108935"/>
                </a:cubicBezTo>
                <a:cubicBezTo>
                  <a:pt x="152509" y="114960"/>
                  <a:pt x="147641" y="119828"/>
                  <a:pt x="141615" y="119828"/>
                </a:cubicBezTo>
                <a:lnTo>
                  <a:pt x="54467" y="119828"/>
                </a:lnTo>
                <a:cubicBezTo>
                  <a:pt x="48442" y="119828"/>
                  <a:pt x="43574" y="114960"/>
                  <a:pt x="43574" y="108935"/>
                </a:cubicBezTo>
                <a:cubicBezTo>
                  <a:pt x="43574" y="102909"/>
                  <a:pt x="48442" y="98041"/>
                  <a:pt x="54467" y="980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0" name="Text 48"/>
          <p:cNvSpPr/>
          <p:nvPr/>
        </p:nvSpPr>
        <p:spPr>
          <a:xfrm>
            <a:off x="4695750" y="4608059"/>
            <a:ext cx="1411797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Types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398358" y="4982795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2" name="Text 50"/>
          <p:cNvSpPr/>
          <p:nvPr/>
        </p:nvSpPr>
        <p:spPr>
          <a:xfrm>
            <a:off x="4595530" y="4956651"/>
            <a:ext cx="60132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 Charts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98358" y="5226810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4" name="Text 52"/>
          <p:cNvSpPr/>
          <p:nvPr/>
        </p:nvSpPr>
        <p:spPr>
          <a:xfrm>
            <a:off x="4595530" y="5200665"/>
            <a:ext cx="85405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Stacked Charts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98358" y="5470824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6" name="Text 54"/>
          <p:cNvSpPr/>
          <p:nvPr/>
        </p:nvSpPr>
        <p:spPr>
          <a:xfrm>
            <a:off x="4595530" y="5444680"/>
            <a:ext cx="60132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Heatmaps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398358" y="5714838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8" name="Text 56"/>
          <p:cNvSpPr/>
          <p:nvPr/>
        </p:nvSpPr>
        <p:spPr>
          <a:xfrm>
            <a:off x="4595530" y="5688694"/>
            <a:ext cx="566462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Cards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12277" y="1261903"/>
            <a:ext cx="3726447" cy="4737363"/>
          </a:xfrm>
          <a:custGeom>
            <a:avLst/>
            <a:gdLst/>
            <a:ahLst/>
            <a:cxnLst/>
            <a:rect l="l" t="t" r="r" b="b"/>
            <a:pathLst>
              <a:path w="3726447" h="4737363">
                <a:moveTo>
                  <a:pt x="104564" y="0"/>
                </a:moveTo>
                <a:lnTo>
                  <a:pt x="3621883" y="0"/>
                </a:lnTo>
                <a:cubicBezTo>
                  <a:pt x="3679632" y="0"/>
                  <a:pt x="3726447" y="46815"/>
                  <a:pt x="3726447" y="104564"/>
                </a:cubicBezTo>
                <a:lnTo>
                  <a:pt x="3726447" y="4632799"/>
                </a:lnTo>
                <a:cubicBezTo>
                  <a:pt x="3726447" y="4690548"/>
                  <a:pt x="3679632" y="4737363"/>
                  <a:pt x="3621883" y="4737363"/>
                </a:cubicBezTo>
                <a:lnTo>
                  <a:pt x="104564" y="4737363"/>
                </a:lnTo>
                <a:cubicBezTo>
                  <a:pt x="46815" y="4737363"/>
                  <a:pt x="0" y="4690548"/>
                  <a:pt x="0" y="4632799"/>
                </a:cubicBezTo>
                <a:lnTo>
                  <a:pt x="0" y="104564"/>
                </a:lnTo>
                <a:cubicBezTo>
                  <a:pt x="0" y="46854"/>
                  <a:pt x="46854" y="0"/>
                  <a:pt x="10456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93545" y="1443171"/>
            <a:ext cx="418310" cy="418310"/>
          </a:xfrm>
          <a:custGeom>
            <a:avLst/>
            <a:gdLst/>
            <a:ahLst/>
            <a:cxnLst/>
            <a:rect l="l" t="t" r="r" b="b"/>
            <a:pathLst>
              <a:path w="418310" h="418310">
                <a:moveTo>
                  <a:pt x="104578" y="0"/>
                </a:moveTo>
                <a:lnTo>
                  <a:pt x="313733" y="0"/>
                </a:lnTo>
                <a:cubicBezTo>
                  <a:pt x="371451" y="0"/>
                  <a:pt x="418310" y="46860"/>
                  <a:pt x="418310" y="104578"/>
                </a:cubicBezTo>
                <a:lnTo>
                  <a:pt x="418310" y="313733"/>
                </a:lnTo>
                <a:cubicBezTo>
                  <a:pt x="418310" y="371451"/>
                  <a:pt x="371451" y="418310"/>
                  <a:pt x="313733" y="418310"/>
                </a:cubicBezTo>
                <a:lnTo>
                  <a:pt x="104578" y="418310"/>
                </a:lnTo>
                <a:cubicBezTo>
                  <a:pt x="46860" y="418310"/>
                  <a:pt x="0" y="371451"/>
                  <a:pt x="0" y="313733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8415552" y="1565178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87148" y="174296"/>
                </a:moveTo>
                <a:cubicBezTo>
                  <a:pt x="135246" y="174296"/>
                  <a:pt x="174296" y="135246"/>
                  <a:pt x="174296" y="87148"/>
                </a:cubicBezTo>
                <a:cubicBezTo>
                  <a:pt x="174296" y="39050"/>
                  <a:pt x="135246" y="0"/>
                  <a:pt x="87148" y="0"/>
                </a:cubicBezTo>
                <a:cubicBezTo>
                  <a:pt x="39050" y="0"/>
                  <a:pt x="0" y="39050"/>
                  <a:pt x="0" y="87148"/>
                </a:cubicBezTo>
                <a:cubicBezTo>
                  <a:pt x="0" y="135246"/>
                  <a:pt x="39050" y="174296"/>
                  <a:pt x="87148" y="174296"/>
                </a:cubicBezTo>
                <a:close/>
                <a:moveTo>
                  <a:pt x="76254" y="54467"/>
                </a:moveTo>
                <a:cubicBezTo>
                  <a:pt x="76254" y="48455"/>
                  <a:pt x="81136" y="43574"/>
                  <a:pt x="87148" y="43574"/>
                </a:cubicBezTo>
                <a:cubicBezTo>
                  <a:pt x="93160" y="43574"/>
                  <a:pt x="98041" y="48455"/>
                  <a:pt x="98041" y="54467"/>
                </a:cubicBezTo>
                <a:cubicBezTo>
                  <a:pt x="98041" y="60480"/>
                  <a:pt x="93160" y="65361"/>
                  <a:pt x="87148" y="65361"/>
                </a:cubicBezTo>
                <a:cubicBezTo>
                  <a:pt x="81136" y="65361"/>
                  <a:pt x="76254" y="60480"/>
                  <a:pt x="76254" y="54467"/>
                </a:cubicBezTo>
                <a:close/>
                <a:moveTo>
                  <a:pt x="73531" y="76254"/>
                </a:moveTo>
                <a:lnTo>
                  <a:pt x="89871" y="76254"/>
                </a:lnTo>
                <a:cubicBezTo>
                  <a:pt x="94399" y="76254"/>
                  <a:pt x="98041" y="79897"/>
                  <a:pt x="98041" y="84425"/>
                </a:cubicBezTo>
                <a:lnTo>
                  <a:pt x="98041" y="114382"/>
                </a:lnTo>
                <a:lnTo>
                  <a:pt x="100765" y="114382"/>
                </a:lnTo>
                <a:cubicBezTo>
                  <a:pt x="105292" y="114382"/>
                  <a:pt x="108935" y="118024"/>
                  <a:pt x="108935" y="122552"/>
                </a:cubicBezTo>
                <a:cubicBezTo>
                  <a:pt x="108935" y="127079"/>
                  <a:pt x="105292" y="130722"/>
                  <a:pt x="100765" y="130722"/>
                </a:cubicBezTo>
                <a:lnTo>
                  <a:pt x="73531" y="130722"/>
                </a:lnTo>
                <a:cubicBezTo>
                  <a:pt x="69003" y="130722"/>
                  <a:pt x="65361" y="127079"/>
                  <a:pt x="65361" y="122552"/>
                </a:cubicBezTo>
                <a:cubicBezTo>
                  <a:pt x="65361" y="118024"/>
                  <a:pt x="69003" y="114382"/>
                  <a:pt x="73531" y="114382"/>
                </a:cubicBezTo>
                <a:lnTo>
                  <a:pt x="81701" y="114382"/>
                </a:lnTo>
                <a:lnTo>
                  <a:pt x="81701" y="92595"/>
                </a:lnTo>
                <a:lnTo>
                  <a:pt x="73531" y="92595"/>
                </a:lnTo>
                <a:cubicBezTo>
                  <a:pt x="69003" y="92595"/>
                  <a:pt x="65361" y="88952"/>
                  <a:pt x="65361" y="84425"/>
                </a:cubicBezTo>
                <a:cubicBezTo>
                  <a:pt x="65361" y="79897"/>
                  <a:pt x="69003" y="76254"/>
                  <a:pt x="73531" y="7625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2" name="Text 60"/>
          <p:cNvSpPr/>
          <p:nvPr/>
        </p:nvSpPr>
        <p:spPr>
          <a:xfrm>
            <a:off x="8816433" y="1530319"/>
            <a:ext cx="1063205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293545" y="2000918"/>
            <a:ext cx="3433630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Details Info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93545" y="2314651"/>
            <a:ext cx="3363911" cy="836620"/>
          </a:xfrm>
          <a:custGeom>
            <a:avLst/>
            <a:gdLst/>
            <a:ahLst/>
            <a:cxnLst/>
            <a:rect l="l" t="t" r="r" b="b"/>
            <a:pathLst>
              <a:path w="3363911" h="836620">
                <a:moveTo>
                  <a:pt x="69716" y="0"/>
                </a:moveTo>
                <a:lnTo>
                  <a:pt x="3294196" y="0"/>
                </a:lnTo>
                <a:cubicBezTo>
                  <a:pt x="3332699" y="0"/>
                  <a:pt x="3363911" y="31213"/>
                  <a:pt x="3363911" y="69716"/>
                </a:cubicBezTo>
                <a:lnTo>
                  <a:pt x="3363911" y="766905"/>
                </a:lnTo>
                <a:cubicBezTo>
                  <a:pt x="3363911" y="805408"/>
                  <a:pt x="3332699" y="836620"/>
                  <a:pt x="3294196" y="836620"/>
                </a:cubicBezTo>
                <a:lnTo>
                  <a:pt x="69716" y="836620"/>
                </a:lnTo>
                <a:cubicBezTo>
                  <a:pt x="31213" y="836620"/>
                  <a:pt x="0" y="805408"/>
                  <a:pt x="0" y="766905"/>
                </a:cubicBezTo>
                <a:lnTo>
                  <a:pt x="0" y="69716"/>
                </a:lnTo>
                <a:cubicBezTo>
                  <a:pt x="0" y="31239"/>
                  <a:pt x="31239" y="0"/>
                  <a:pt x="6971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8398123" y="2419228"/>
            <a:ext cx="321576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 Analysis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98123" y="2715531"/>
            <a:ext cx="69718" cy="69718"/>
          </a:xfrm>
          <a:custGeom>
            <a:avLst/>
            <a:gdLst/>
            <a:ahLst/>
            <a:cxnLst/>
            <a:rect l="l" t="t" r="r" b="b"/>
            <a:pathLst>
              <a:path w="69718" h="69718">
                <a:moveTo>
                  <a:pt x="34859" y="0"/>
                </a:moveTo>
                <a:lnTo>
                  <a:pt x="34859" y="0"/>
                </a:lnTo>
                <a:cubicBezTo>
                  <a:pt x="54098" y="0"/>
                  <a:pt x="69718" y="15620"/>
                  <a:pt x="69718" y="34859"/>
                </a:cubicBezTo>
                <a:lnTo>
                  <a:pt x="69718" y="34859"/>
                </a:lnTo>
                <a:cubicBezTo>
                  <a:pt x="69718" y="54098"/>
                  <a:pt x="54098" y="69718"/>
                  <a:pt x="34859" y="69718"/>
                </a:cubicBezTo>
                <a:lnTo>
                  <a:pt x="34859" y="69718"/>
                </a:lnTo>
                <a:cubicBezTo>
                  <a:pt x="15620" y="69718"/>
                  <a:pt x="0" y="54098"/>
                  <a:pt x="0" y="34859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7" name="Text 65"/>
          <p:cNvSpPr/>
          <p:nvPr/>
        </p:nvSpPr>
        <p:spPr>
          <a:xfrm>
            <a:off x="8537559" y="2663243"/>
            <a:ext cx="915054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 locations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98123" y="2924686"/>
            <a:ext cx="69718" cy="69718"/>
          </a:xfrm>
          <a:custGeom>
            <a:avLst/>
            <a:gdLst/>
            <a:ahLst/>
            <a:cxnLst/>
            <a:rect l="l" t="t" r="r" b="b"/>
            <a:pathLst>
              <a:path w="69718" h="69718">
                <a:moveTo>
                  <a:pt x="34859" y="0"/>
                </a:moveTo>
                <a:lnTo>
                  <a:pt x="34859" y="0"/>
                </a:lnTo>
                <a:cubicBezTo>
                  <a:pt x="54098" y="0"/>
                  <a:pt x="69718" y="15620"/>
                  <a:pt x="69718" y="34859"/>
                </a:cubicBezTo>
                <a:lnTo>
                  <a:pt x="69718" y="34859"/>
                </a:lnTo>
                <a:cubicBezTo>
                  <a:pt x="69718" y="54098"/>
                  <a:pt x="54098" y="69718"/>
                  <a:pt x="34859" y="69718"/>
                </a:cubicBezTo>
                <a:lnTo>
                  <a:pt x="34859" y="69718"/>
                </a:lnTo>
                <a:cubicBezTo>
                  <a:pt x="15620" y="69718"/>
                  <a:pt x="0" y="54098"/>
                  <a:pt x="0" y="34859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9" name="Text 67"/>
          <p:cNvSpPr/>
          <p:nvPr/>
        </p:nvSpPr>
        <p:spPr>
          <a:xfrm>
            <a:off x="8537559" y="2872398"/>
            <a:ext cx="103706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Drop-off locations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93545" y="3220990"/>
            <a:ext cx="3363911" cy="592606"/>
          </a:xfrm>
          <a:custGeom>
            <a:avLst/>
            <a:gdLst/>
            <a:ahLst/>
            <a:cxnLst/>
            <a:rect l="l" t="t" r="r" b="b"/>
            <a:pathLst>
              <a:path w="3363911" h="592606">
                <a:moveTo>
                  <a:pt x="69720" y="0"/>
                </a:moveTo>
                <a:lnTo>
                  <a:pt x="3294191" y="0"/>
                </a:lnTo>
                <a:cubicBezTo>
                  <a:pt x="3332697" y="0"/>
                  <a:pt x="3363911" y="31215"/>
                  <a:pt x="3363911" y="69720"/>
                </a:cubicBezTo>
                <a:lnTo>
                  <a:pt x="3363911" y="522886"/>
                </a:lnTo>
                <a:cubicBezTo>
                  <a:pt x="3363911" y="561391"/>
                  <a:pt x="3332697" y="592606"/>
                  <a:pt x="3294191" y="592606"/>
                </a:cubicBezTo>
                <a:lnTo>
                  <a:pt x="69720" y="592606"/>
                </a:lnTo>
                <a:cubicBezTo>
                  <a:pt x="31215" y="592606"/>
                  <a:pt x="0" y="561391"/>
                  <a:pt x="0" y="522886"/>
                </a:cubicBezTo>
                <a:lnTo>
                  <a:pt x="0" y="69720"/>
                </a:lnTo>
                <a:cubicBezTo>
                  <a:pt x="0" y="31241"/>
                  <a:pt x="31241" y="0"/>
                  <a:pt x="697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398123" y="3325567"/>
            <a:ext cx="321576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Performance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98123" y="3569581"/>
            <a:ext cx="3207045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High-traffic area identification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293545" y="3883203"/>
            <a:ext cx="3363911" cy="592606"/>
          </a:xfrm>
          <a:custGeom>
            <a:avLst/>
            <a:gdLst/>
            <a:ahLst/>
            <a:cxnLst/>
            <a:rect l="l" t="t" r="r" b="b"/>
            <a:pathLst>
              <a:path w="3363911" h="592606">
                <a:moveTo>
                  <a:pt x="69720" y="0"/>
                </a:moveTo>
                <a:lnTo>
                  <a:pt x="3294191" y="0"/>
                </a:lnTo>
                <a:cubicBezTo>
                  <a:pt x="3332697" y="0"/>
                  <a:pt x="3363911" y="31215"/>
                  <a:pt x="3363911" y="69720"/>
                </a:cubicBezTo>
                <a:lnTo>
                  <a:pt x="3363911" y="522886"/>
                </a:lnTo>
                <a:cubicBezTo>
                  <a:pt x="3363911" y="561391"/>
                  <a:pt x="3332697" y="592606"/>
                  <a:pt x="3294191" y="592606"/>
                </a:cubicBezTo>
                <a:lnTo>
                  <a:pt x="69720" y="592606"/>
                </a:lnTo>
                <a:cubicBezTo>
                  <a:pt x="31215" y="592606"/>
                  <a:pt x="0" y="561391"/>
                  <a:pt x="0" y="522886"/>
                </a:cubicBezTo>
                <a:lnTo>
                  <a:pt x="0" y="69720"/>
                </a:lnTo>
                <a:cubicBezTo>
                  <a:pt x="0" y="31241"/>
                  <a:pt x="31241" y="0"/>
                  <a:pt x="697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8398123" y="3987781"/>
            <a:ext cx="321576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Insights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398123" y="4231795"/>
            <a:ext cx="3207045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City-wise distribution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52078" y="6152319"/>
            <a:ext cx="11493073" cy="704156"/>
          </a:xfrm>
          <a:custGeom>
            <a:avLst/>
            <a:gdLst/>
            <a:ahLst/>
            <a:cxnLst/>
            <a:rect l="l" t="t" r="r" b="b"/>
            <a:pathLst>
              <a:path w="11493073" h="704156">
                <a:moveTo>
                  <a:pt x="104574" y="0"/>
                </a:moveTo>
                <a:lnTo>
                  <a:pt x="11388499" y="0"/>
                </a:lnTo>
                <a:cubicBezTo>
                  <a:pt x="11446254" y="0"/>
                  <a:pt x="11493073" y="46819"/>
                  <a:pt x="11493073" y="104574"/>
                </a:cubicBezTo>
                <a:lnTo>
                  <a:pt x="11493073" y="599581"/>
                </a:lnTo>
                <a:cubicBezTo>
                  <a:pt x="11493073" y="657336"/>
                  <a:pt x="11446254" y="704156"/>
                  <a:pt x="11388499" y="704156"/>
                </a:cubicBezTo>
                <a:lnTo>
                  <a:pt x="104574" y="704156"/>
                </a:lnTo>
                <a:cubicBezTo>
                  <a:pt x="46819" y="704156"/>
                  <a:pt x="0" y="657336"/>
                  <a:pt x="0" y="599581"/>
                </a:cubicBezTo>
                <a:lnTo>
                  <a:pt x="0" y="104574"/>
                </a:lnTo>
                <a:cubicBezTo>
                  <a:pt x="0" y="46858"/>
                  <a:pt x="46858" y="0"/>
                  <a:pt x="10457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1145" y="6399822"/>
            <a:ext cx="209155" cy="209155"/>
          </a:xfrm>
          <a:custGeom>
            <a:avLst/>
            <a:gdLst/>
            <a:ahLst/>
            <a:cxnLst/>
            <a:rect l="l" t="t" r="r" b="b"/>
            <a:pathLst>
              <a:path w="209155" h="209155">
                <a:moveTo>
                  <a:pt x="94978" y="2124"/>
                </a:moveTo>
                <a:cubicBezTo>
                  <a:pt x="101064" y="-694"/>
                  <a:pt x="108091" y="-694"/>
                  <a:pt x="114177" y="2124"/>
                </a:cubicBezTo>
                <a:lnTo>
                  <a:pt x="203477" y="43383"/>
                </a:lnTo>
                <a:cubicBezTo>
                  <a:pt x="206949" y="44977"/>
                  <a:pt x="209155" y="48449"/>
                  <a:pt x="209155" y="52289"/>
                </a:cubicBezTo>
                <a:cubicBezTo>
                  <a:pt x="209155" y="56129"/>
                  <a:pt x="206949" y="59601"/>
                  <a:pt x="203477" y="61194"/>
                </a:cubicBezTo>
                <a:lnTo>
                  <a:pt x="114177" y="102453"/>
                </a:lnTo>
                <a:cubicBezTo>
                  <a:pt x="108091" y="105272"/>
                  <a:pt x="101064" y="105272"/>
                  <a:pt x="94978" y="102453"/>
                </a:cubicBezTo>
                <a:lnTo>
                  <a:pt x="5678" y="61194"/>
                </a:lnTo>
                <a:cubicBezTo>
                  <a:pt x="2206" y="59560"/>
                  <a:pt x="0" y="56088"/>
                  <a:pt x="0" y="52289"/>
                </a:cubicBezTo>
                <a:cubicBezTo>
                  <a:pt x="0" y="48490"/>
                  <a:pt x="2206" y="44977"/>
                  <a:pt x="5678" y="43383"/>
                </a:cubicBezTo>
                <a:lnTo>
                  <a:pt x="94978" y="2124"/>
                </a:lnTo>
                <a:close/>
                <a:moveTo>
                  <a:pt x="19649" y="89218"/>
                </a:moveTo>
                <a:lnTo>
                  <a:pt x="86767" y="120223"/>
                </a:lnTo>
                <a:cubicBezTo>
                  <a:pt x="98082" y="125452"/>
                  <a:pt x="111114" y="125452"/>
                  <a:pt x="122429" y="120223"/>
                </a:cubicBezTo>
                <a:lnTo>
                  <a:pt x="189547" y="89218"/>
                </a:lnTo>
                <a:lnTo>
                  <a:pt x="203477" y="95672"/>
                </a:lnTo>
                <a:cubicBezTo>
                  <a:pt x="206949" y="97265"/>
                  <a:pt x="209155" y="100738"/>
                  <a:pt x="209155" y="104578"/>
                </a:cubicBezTo>
                <a:cubicBezTo>
                  <a:pt x="209155" y="108418"/>
                  <a:pt x="206949" y="111890"/>
                  <a:pt x="203477" y="113483"/>
                </a:cubicBezTo>
                <a:lnTo>
                  <a:pt x="114177" y="154742"/>
                </a:lnTo>
                <a:cubicBezTo>
                  <a:pt x="108091" y="157561"/>
                  <a:pt x="101064" y="157561"/>
                  <a:pt x="94978" y="154742"/>
                </a:cubicBezTo>
                <a:lnTo>
                  <a:pt x="5678" y="113483"/>
                </a:lnTo>
                <a:cubicBezTo>
                  <a:pt x="2206" y="111849"/>
                  <a:pt x="0" y="108377"/>
                  <a:pt x="0" y="104578"/>
                </a:cubicBezTo>
                <a:cubicBezTo>
                  <a:pt x="0" y="100778"/>
                  <a:pt x="2206" y="97265"/>
                  <a:pt x="5678" y="95672"/>
                </a:cubicBezTo>
                <a:lnTo>
                  <a:pt x="19608" y="89218"/>
                </a:lnTo>
                <a:close/>
                <a:moveTo>
                  <a:pt x="5678" y="147961"/>
                </a:moveTo>
                <a:lnTo>
                  <a:pt x="19608" y="141507"/>
                </a:lnTo>
                <a:lnTo>
                  <a:pt x="86726" y="172512"/>
                </a:lnTo>
                <a:cubicBezTo>
                  <a:pt x="98041" y="177741"/>
                  <a:pt x="111073" y="177741"/>
                  <a:pt x="122388" y="172512"/>
                </a:cubicBezTo>
                <a:lnTo>
                  <a:pt x="189506" y="141507"/>
                </a:lnTo>
                <a:lnTo>
                  <a:pt x="203436" y="147961"/>
                </a:lnTo>
                <a:cubicBezTo>
                  <a:pt x="206908" y="149554"/>
                  <a:pt x="209114" y="153026"/>
                  <a:pt x="209114" y="156866"/>
                </a:cubicBezTo>
                <a:cubicBezTo>
                  <a:pt x="209114" y="160706"/>
                  <a:pt x="206908" y="164179"/>
                  <a:pt x="203436" y="165772"/>
                </a:cubicBezTo>
                <a:lnTo>
                  <a:pt x="114137" y="207031"/>
                </a:lnTo>
                <a:cubicBezTo>
                  <a:pt x="108050" y="209850"/>
                  <a:pt x="101024" y="209850"/>
                  <a:pt x="94937" y="207031"/>
                </a:cubicBezTo>
                <a:lnTo>
                  <a:pt x="5678" y="165772"/>
                </a:lnTo>
                <a:cubicBezTo>
                  <a:pt x="2206" y="164138"/>
                  <a:pt x="0" y="160665"/>
                  <a:pt x="0" y="156866"/>
                </a:cubicBezTo>
                <a:cubicBezTo>
                  <a:pt x="0" y="153067"/>
                  <a:pt x="2206" y="149554"/>
                  <a:pt x="5678" y="14796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8" name="Text 76"/>
          <p:cNvSpPr/>
          <p:nvPr/>
        </p:nvSpPr>
        <p:spPr>
          <a:xfrm>
            <a:off x="895881" y="6399822"/>
            <a:ext cx="6614530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Three-Dashboard System:</a:t>
            </a:r>
            <a:pPr>
              <a:lnSpc>
                <a:spcPct val="130000"/>
              </a:lnSpc>
            </a:pPr>
            <a:r>
              <a:rPr lang="en-US" sz="1098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Comprehensive analytics from executive overview to detailed operational insights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063629" y="6295245"/>
            <a:ext cx="723328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076701" y="6539259"/>
            <a:ext cx="697184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906677" y="6295245"/>
            <a:ext cx="400881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0919749" y="6539259"/>
            <a:ext cx="374736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429673" y="6295245"/>
            <a:ext cx="313733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2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6+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1442746" y="6539259"/>
            <a:ext cx="287588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FINDINGS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5619750" cy="1857375"/>
          </a:xfrm>
          <a:custGeom>
            <a:avLst/>
            <a:gdLst/>
            <a:ahLst/>
            <a:cxnLst/>
            <a:rect l="l" t="t" r="r" b="b"/>
            <a:pathLst>
              <a:path w="5619750" h="1857375">
                <a:moveTo>
                  <a:pt x="38100" y="0"/>
                </a:moveTo>
                <a:lnTo>
                  <a:pt x="5505447" y="0"/>
                </a:lnTo>
                <a:cubicBezTo>
                  <a:pt x="5568533" y="0"/>
                  <a:pt x="5619750" y="51217"/>
                  <a:pt x="5619750" y="114303"/>
                </a:cubicBezTo>
                <a:lnTo>
                  <a:pt x="5619750" y="1743072"/>
                </a:lnTo>
                <a:cubicBezTo>
                  <a:pt x="5619750" y="1806158"/>
                  <a:pt x="5568533" y="1857375"/>
                  <a:pt x="5505447" y="1857375"/>
                </a:cubicBezTo>
                <a:lnTo>
                  <a:pt x="38100" y="1857375"/>
                </a:lnTo>
                <a:cubicBezTo>
                  <a:pt x="17072" y="1857375"/>
                  <a:pt x="0" y="1840303"/>
                  <a:pt x="0" y="1819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857375"/>
          </a:xfrm>
          <a:custGeom>
            <a:avLst/>
            <a:gdLst/>
            <a:ahLst/>
            <a:cxnLst/>
            <a:rect l="l" t="t" r="r" b="b"/>
            <a:pathLst>
              <a:path w="38100" h="1857375">
                <a:moveTo>
                  <a:pt x="38100" y="0"/>
                </a:moveTo>
                <a:lnTo>
                  <a:pt x="38100" y="0"/>
                </a:lnTo>
                <a:lnTo>
                  <a:pt x="38100" y="1857375"/>
                </a:lnTo>
                <a:lnTo>
                  <a:pt x="38100" y="1857375"/>
                </a:lnTo>
                <a:cubicBezTo>
                  <a:pt x="17072" y="1857375"/>
                  <a:pt x="0" y="1840303"/>
                  <a:pt x="0" y="1819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5810" y="1676400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56210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Peak Demand Hours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8669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Evening Commute 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2098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demand occurs during evening hours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corresponding to commute times, indicating predictable patterns for resource planning.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4844" y="285940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38213" y="2849882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driver allocation for evening rush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383282"/>
            <a:ext cx="5619750" cy="1857375"/>
          </a:xfrm>
          <a:custGeom>
            <a:avLst/>
            <a:gdLst/>
            <a:ahLst/>
            <a:cxnLst/>
            <a:rect l="l" t="t" r="r" b="b"/>
            <a:pathLst>
              <a:path w="5619750" h="1857375">
                <a:moveTo>
                  <a:pt x="38100" y="0"/>
                </a:moveTo>
                <a:lnTo>
                  <a:pt x="5505447" y="0"/>
                </a:lnTo>
                <a:cubicBezTo>
                  <a:pt x="5568533" y="0"/>
                  <a:pt x="5619750" y="51217"/>
                  <a:pt x="5619750" y="114303"/>
                </a:cubicBezTo>
                <a:lnTo>
                  <a:pt x="5619750" y="1743072"/>
                </a:lnTo>
                <a:cubicBezTo>
                  <a:pt x="5619750" y="1806158"/>
                  <a:pt x="5568533" y="1857375"/>
                  <a:pt x="5505447" y="1857375"/>
                </a:cubicBezTo>
                <a:lnTo>
                  <a:pt x="38100" y="1857375"/>
                </a:lnTo>
                <a:cubicBezTo>
                  <a:pt x="17072" y="1857375"/>
                  <a:pt x="0" y="1840303"/>
                  <a:pt x="0" y="1819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0050" y="3383282"/>
            <a:ext cx="38100" cy="1857375"/>
          </a:xfrm>
          <a:custGeom>
            <a:avLst/>
            <a:gdLst/>
            <a:ahLst/>
            <a:cxnLst/>
            <a:rect l="l" t="t" r="r" b="b"/>
            <a:pathLst>
              <a:path w="38100" h="1857375">
                <a:moveTo>
                  <a:pt x="38100" y="0"/>
                </a:moveTo>
                <a:lnTo>
                  <a:pt x="38100" y="0"/>
                </a:lnTo>
                <a:lnTo>
                  <a:pt x="38100" y="1857375"/>
                </a:lnTo>
                <a:lnTo>
                  <a:pt x="38100" y="1857375"/>
                </a:lnTo>
                <a:cubicBezTo>
                  <a:pt x="17072" y="1857375"/>
                  <a:pt x="0" y="1840303"/>
                  <a:pt x="0" y="1819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" y="35737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743902" y="3688082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5400" y="3573782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High-Traffic Zones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5400" y="3878582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Volume Leaders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221482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Certain zones show consistently high trip volumes,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revealing hotspots that require dedicated driver positioning strategies.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4844" y="487108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938213" y="4861559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driver placement in hotspots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371600"/>
            <a:ext cx="5619750" cy="1857375"/>
          </a:xfrm>
          <a:custGeom>
            <a:avLst/>
            <a:gdLst/>
            <a:ahLst/>
            <a:cxnLst/>
            <a:rect l="l" t="t" r="r" b="b"/>
            <a:pathLst>
              <a:path w="5619750" h="1857375">
                <a:moveTo>
                  <a:pt x="38100" y="0"/>
                </a:moveTo>
                <a:lnTo>
                  <a:pt x="5505447" y="0"/>
                </a:lnTo>
                <a:cubicBezTo>
                  <a:pt x="5568533" y="0"/>
                  <a:pt x="5619750" y="51217"/>
                  <a:pt x="5619750" y="114303"/>
                </a:cubicBezTo>
                <a:lnTo>
                  <a:pt x="5619750" y="1743072"/>
                </a:lnTo>
                <a:cubicBezTo>
                  <a:pt x="5619750" y="1806158"/>
                  <a:pt x="5568533" y="1857375"/>
                  <a:pt x="5505447" y="1857375"/>
                </a:cubicBezTo>
                <a:lnTo>
                  <a:pt x="38100" y="1857375"/>
                </a:lnTo>
                <a:cubicBezTo>
                  <a:pt x="17072" y="1857375"/>
                  <a:pt x="0" y="1840303"/>
                  <a:pt x="0" y="1819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91250" y="1371600"/>
            <a:ext cx="38100" cy="1857375"/>
          </a:xfrm>
          <a:custGeom>
            <a:avLst/>
            <a:gdLst/>
            <a:ahLst/>
            <a:cxnLst/>
            <a:rect l="l" t="t" r="r" b="b"/>
            <a:pathLst>
              <a:path w="38100" h="1857375">
                <a:moveTo>
                  <a:pt x="38100" y="0"/>
                </a:moveTo>
                <a:lnTo>
                  <a:pt x="38100" y="0"/>
                </a:lnTo>
                <a:lnTo>
                  <a:pt x="38100" y="1857375"/>
                </a:lnTo>
                <a:lnTo>
                  <a:pt x="38100" y="1857375"/>
                </a:lnTo>
                <a:cubicBezTo>
                  <a:pt x="17072" y="1857375"/>
                  <a:pt x="0" y="1840303"/>
                  <a:pt x="0" y="1819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2126" y="16764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156210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Cancellation Patterns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186690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High-Demand Correlation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22098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Cancellation rates increase during high-demand time slots,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suggesting supply constraints during peak periods.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6044" y="285940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729413" y="2849882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supply during peak hours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3383282"/>
            <a:ext cx="5619750" cy="1857375"/>
          </a:xfrm>
          <a:custGeom>
            <a:avLst/>
            <a:gdLst/>
            <a:ahLst/>
            <a:cxnLst/>
            <a:rect l="l" t="t" r="r" b="b"/>
            <a:pathLst>
              <a:path w="5619750" h="1857375">
                <a:moveTo>
                  <a:pt x="38100" y="0"/>
                </a:moveTo>
                <a:lnTo>
                  <a:pt x="5505447" y="0"/>
                </a:lnTo>
                <a:cubicBezTo>
                  <a:pt x="5568533" y="0"/>
                  <a:pt x="5619750" y="51217"/>
                  <a:pt x="5619750" y="114303"/>
                </a:cubicBezTo>
                <a:lnTo>
                  <a:pt x="5619750" y="1743072"/>
                </a:lnTo>
                <a:cubicBezTo>
                  <a:pt x="5619750" y="1806158"/>
                  <a:pt x="5568533" y="1857375"/>
                  <a:pt x="5505447" y="1857375"/>
                </a:cubicBezTo>
                <a:lnTo>
                  <a:pt x="38100" y="1857375"/>
                </a:lnTo>
                <a:cubicBezTo>
                  <a:pt x="17072" y="1857375"/>
                  <a:pt x="0" y="1840303"/>
                  <a:pt x="0" y="1819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191250" y="3383282"/>
            <a:ext cx="38100" cy="1857375"/>
          </a:xfrm>
          <a:custGeom>
            <a:avLst/>
            <a:gdLst/>
            <a:ahLst/>
            <a:cxnLst/>
            <a:rect l="l" t="t" r="r" b="b"/>
            <a:pathLst>
              <a:path w="38100" h="1857375">
                <a:moveTo>
                  <a:pt x="38100" y="0"/>
                </a:moveTo>
                <a:lnTo>
                  <a:pt x="38100" y="0"/>
                </a:lnTo>
                <a:lnTo>
                  <a:pt x="38100" y="1857375"/>
                </a:lnTo>
                <a:lnTo>
                  <a:pt x="38100" y="1857375"/>
                </a:lnTo>
                <a:cubicBezTo>
                  <a:pt x="17072" y="1857375"/>
                  <a:pt x="0" y="1840303"/>
                  <a:pt x="0" y="1819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0" y="35737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5" name="Text 33"/>
          <p:cNvSpPr/>
          <p:nvPr/>
        </p:nvSpPr>
        <p:spPr>
          <a:xfrm>
            <a:off x="6535221" y="3688082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86600" y="3573782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Correlation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3878582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Peak-Hour Dependency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4221482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is directly correlated with peak-hour demand,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highlighting the importance of surge pricing and demand management.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46044" y="487108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6729413" y="4861559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dynamic pricing strategies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5398769"/>
            <a:ext cx="11418570" cy="1074420"/>
          </a:xfrm>
          <a:custGeom>
            <a:avLst/>
            <a:gdLst/>
            <a:ahLst/>
            <a:cxnLst/>
            <a:rect l="l" t="t" r="r" b="b"/>
            <a:pathLst>
              <a:path w="11418570" h="1074420">
                <a:moveTo>
                  <a:pt x="114297" y="0"/>
                </a:moveTo>
                <a:lnTo>
                  <a:pt x="11304273" y="0"/>
                </a:lnTo>
                <a:cubicBezTo>
                  <a:pt x="11367398" y="0"/>
                  <a:pt x="11418570" y="51172"/>
                  <a:pt x="11418570" y="114297"/>
                </a:cubicBezTo>
                <a:lnTo>
                  <a:pt x="11418570" y="960123"/>
                </a:lnTo>
                <a:cubicBezTo>
                  <a:pt x="11418570" y="1023248"/>
                  <a:pt x="11367398" y="1074420"/>
                  <a:pt x="11304273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1020" y="5669282"/>
            <a:ext cx="514350" cy="533400"/>
          </a:xfrm>
          <a:custGeom>
            <a:avLst/>
            <a:gdLst/>
            <a:ahLst/>
            <a:cxnLst/>
            <a:rect l="l" t="t" r="r" b="b"/>
            <a:pathLst>
              <a:path w="514350" h="533400">
                <a:moveTo>
                  <a:pt x="114299" y="0"/>
                </a:moveTo>
                <a:lnTo>
                  <a:pt x="400051" y="0"/>
                </a:lnTo>
                <a:cubicBezTo>
                  <a:pt x="463177" y="0"/>
                  <a:pt x="514350" y="51173"/>
                  <a:pt x="514350" y="114299"/>
                </a:cubicBezTo>
                <a:lnTo>
                  <a:pt x="514350" y="419101"/>
                </a:lnTo>
                <a:cubicBezTo>
                  <a:pt x="514350" y="482227"/>
                  <a:pt x="463177" y="533400"/>
                  <a:pt x="400051" y="533400"/>
                </a:cubicBezTo>
                <a:lnTo>
                  <a:pt x="114299" y="533400"/>
                </a:lnTo>
                <a:cubicBezTo>
                  <a:pt x="51173" y="533400"/>
                  <a:pt x="0" y="482227"/>
                  <a:pt x="0" y="4191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Text 41"/>
          <p:cNvSpPr/>
          <p:nvPr/>
        </p:nvSpPr>
        <p:spPr>
          <a:xfrm>
            <a:off x="660916" y="5783582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04793" y="5554982"/>
            <a:ext cx="792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 Concentration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04793" y="5859782"/>
            <a:ext cx="7915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small percentage of drivers handle a large portion of trips, indicating performance disparity and optimization opportunities.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82326" y="584073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9381768" y="5707382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 top performers, train others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Real-Life Applications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5608320" cy="5379720"/>
          </a:xfrm>
          <a:custGeom>
            <a:avLst/>
            <a:gdLst/>
            <a:ahLst/>
            <a:cxnLst/>
            <a:rect l="l" t="t" r="r" b="b"/>
            <a:pathLst>
              <a:path w="5608320" h="5379720">
                <a:moveTo>
                  <a:pt x="114319" y="0"/>
                </a:moveTo>
                <a:lnTo>
                  <a:pt x="5494001" y="0"/>
                </a:lnTo>
                <a:cubicBezTo>
                  <a:pt x="5557138" y="0"/>
                  <a:pt x="5608320" y="51182"/>
                  <a:pt x="5608320" y="114319"/>
                </a:cubicBezTo>
                <a:lnTo>
                  <a:pt x="5608320" y="5265401"/>
                </a:lnTo>
                <a:cubicBezTo>
                  <a:pt x="5608320" y="5328538"/>
                  <a:pt x="5557138" y="5379720"/>
                  <a:pt x="5494001" y="5379720"/>
                </a:cubicBezTo>
                <a:lnTo>
                  <a:pt x="114319" y="5379720"/>
                </a:lnTo>
                <a:cubicBezTo>
                  <a:pt x="51182" y="5379720"/>
                  <a:pt x="0" y="5328538"/>
                  <a:pt x="0" y="5265401"/>
                </a:cubicBezTo>
                <a:lnTo>
                  <a:pt x="0" y="114319"/>
                </a:lnTo>
                <a:cubicBezTo>
                  <a:pt x="0" y="51225"/>
                  <a:pt x="51225" y="0"/>
                  <a:pt x="11431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5697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3420" y="16840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645923"/>
            <a:ext cx="2257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8170" y="222885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8170" y="22288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Shape 9"/>
          <p:cNvSpPr/>
          <p:nvPr/>
        </p:nvSpPr>
        <p:spPr>
          <a:xfrm>
            <a:off x="755333" y="2381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133" y="234315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Datetime Format Issues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0133" y="2609850"/>
            <a:ext cx="3590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inconsistent timestamp formats across data sources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170" y="312800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8170" y="3128009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6048" y="3280409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133" y="3242309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 Corrections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0133" y="3509009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 values stored as text required MySQL type alignment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170" y="4027173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8170" y="402717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755333" y="417957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1060133" y="4141473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Management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0133" y="4408173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Optimizing large dataset (103K+ rows) processing in Power BI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8170" y="4926332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98170" y="4926332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764" y="5078732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1060133" y="5040632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Validation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0133" y="5307332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Debugging SQL, Python, and Power BI result consistency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8170" y="5825491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8170" y="582549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733901" y="5977891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92881" y="16073"/>
                </a:moveTo>
                <a:cubicBezTo>
                  <a:pt x="192881" y="12356"/>
                  <a:pt x="190973" y="8907"/>
                  <a:pt x="187791" y="6965"/>
                </a:cubicBezTo>
                <a:cubicBezTo>
                  <a:pt x="184610" y="5023"/>
                  <a:pt x="180692" y="4822"/>
                  <a:pt x="177377" y="6496"/>
                </a:cubicBezTo>
                <a:lnTo>
                  <a:pt x="138466" y="25952"/>
                </a:lnTo>
                <a:lnTo>
                  <a:pt x="78391" y="5894"/>
                </a:lnTo>
                <a:cubicBezTo>
                  <a:pt x="75679" y="4989"/>
                  <a:pt x="72766" y="5190"/>
                  <a:pt x="70221" y="6463"/>
                </a:cubicBezTo>
                <a:lnTo>
                  <a:pt x="27358" y="27894"/>
                </a:lnTo>
                <a:cubicBezTo>
                  <a:pt x="23708" y="29736"/>
                  <a:pt x="21431" y="33453"/>
                  <a:pt x="21431" y="37505"/>
                </a:cubicBezTo>
                <a:lnTo>
                  <a:pt x="21431" y="155377"/>
                </a:lnTo>
                <a:cubicBezTo>
                  <a:pt x="21431" y="159094"/>
                  <a:pt x="23340" y="162543"/>
                  <a:pt x="26521" y="164485"/>
                </a:cubicBezTo>
                <a:cubicBezTo>
                  <a:pt x="29702" y="166427"/>
                  <a:pt x="33620" y="166628"/>
                  <a:pt x="36935" y="164954"/>
                </a:cubicBezTo>
                <a:lnTo>
                  <a:pt x="75813" y="145498"/>
                </a:lnTo>
                <a:lnTo>
                  <a:pt x="133845" y="164853"/>
                </a:lnTo>
                <a:cubicBezTo>
                  <a:pt x="132405" y="162710"/>
                  <a:pt x="130999" y="160466"/>
                  <a:pt x="129626" y="158189"/>
                </a:cubicBezTo>
                <a:cubicBezTo>
                  <a:pt x="125942" y="152061"/>
                  <a:pt x="122292" y="145029"/>
                  <a:pt x="119580" y="137495"/>
                </a:cubicBezTo>
                <a:lnTo>
                  <a:pt x="85692" y="126210"/>
                </a:lnTo>
                <a:lnTo>
                  <a:pt x="85692" y="30941"/>
                </a:lnTo>
                <a:lnTo>
                  <a:pt x="128554" y="45240"/>
                </a:lnTo>
                <a:lnTo>
                  <a:pt x="128554" y="78492"/>
                </a:lnTo>
                <a:cubicBezTo>
                  <a:pt x="138935" y="66504"/>
                  <a:pt x="154338" y="58936"/>
                  <a:pt x="171417" y="58936"/>
                </a:cubicBezTo>
                <a:cubicBezTo>
                  <a:pt x="178984" y="58936"/>
                  <a:pt x="186217" y="60409"/>
                  <a:pt x="192848" y="63122"/>
                </a:cubicBezTo>
                <a:lnTo>
                  <a:pt x="192881" y="16073"/>
                </a:lnTo>
                <a:close/>
                <a:moveTo>
                  <a:pt x="171450" y="75009"/>
                </a:moveTo>
                <a:cubicBezTo>
                  <a:pt x="149249" y="75009"/>
                  <a:pt x="131266" y="92690"/>
                  <a:pt x="131266" y="114490"/>
                </a:cubicBezTo>
                <a:cubicBezTo>
                  <a:pt x="131266" y="137562"/>
                  <a:pt x="152731" y="164853"/>
                  <a:pt x="164284" y="177879"/>
                </a:cubicBezTo>
                <a:cubicBezTo>
                  <a:pt x="168168" y="182233"/>
                  <a:pt x="174765" y="182233"/>
                  <a:pt x="178650" y="177879"/>
                </a:cubicBezTo>
                <a:cubicBezTo>
                  <a:pt x="190202" y="164853"/>
                  <a:pt x="211667" y="137562"/>
                  <a:pt x="211667" y="114490"/>
                </a:cubicBezTo>
                <a:cubicBezTo>
                  <a:pt x="211667" y="92690"/>
                  <a:pt x="193685" y="75009"/>
                  <a:pt x="171483" y="75009"/>
                </a:cubicBezTo>
                <a:close/>
                <a:moveTo>
                  <a:pt x="158055" y="115193"/>
                </a:moveTo>
                <a:cubicBezTo>
                  <a:pt x="158055" y="107800"/>
                  <a:pt x="164057" y="101798"/>
                  <a:pt x="171450" y="101798"/>
                </a:cubicBezTo>
                <a:cubicBezTo>
                  <a:pt x="178843" y="101798"/>
                  <a:pt x="184845" y="107800"/>
                  <a:pt x="184845" y="115193"/>
                </a:cubicBezTo>
                <a:cubicBezTo>
                  <a:pt x="184845" y="122586"/>
                  <a:pt x="178843" y="128588"/>
                  <a:pt x="171450" y="128588"/>
                </a:cubicBezTo>
                <a:cubicBezTo>
                  <a:pt x="164057" y="128588"/>
                  <a:pt x="158055" y="122586"/>
                  <a:pt x="158055" y="11519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1060133" y="5939791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 ID Mapping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0133" y="6206491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correct zone name associations with location IDs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5060" y="1375410"/>
            <a:ext cx="5608320" cy="5379720"/>
          </a:xfrm>
          <a:custGeom>
            <a:avLst/>
            <a:gdLst/>
            <a:ahLst/>
            <a:cxnLst/>
            <a:rect l="l" t="t" r="r" b="b"/>
            <a:pathLst>
              <a:path w="5608320" h="5379720">
                <a:moveTo>
                  <a:pt x="114319" y="0"/>
                </a:moveTo>
                <a:lnTo>
                  <a:pt x="5494001" y="0"/>
                </a:lnTo>
                <a:cubicBezTo>
                  <a:pt x="5557138" y="0"/>
                  <a:pt x="5608320" y="51182"/>
                  <a:pt x="5608320" y="114319"/>
                </a:cubicBezTo>
                <a:lnTo>
                  <a:pt x="5608320" y="5265401"/>
                </a:lnTo>
                <a:cubicBezTo>
                  <a:pt x="5608320" y="5328538"/>
                  <a:pt x="5557138" y="5379720"/>
                  <a:pt x="5494001" y="5379720"/>
                </a:cubicBezTo>
                <a:lnTo>
                  <a:pt x="114319" y="5379720"/>
                </a:lnTo>
                <a:cubicBezTo>
                  <a:pt x="51182" y="5379720"/>
                  <a:pt x="0" y="5328538"/>
                  <a:pt x="0" y="5265401"/>
                </a:cubicBezTo>
                <a:lnTo>
                  <a:pt x="0" y="114319"/>
                </a:lnTo>
                <a:cubicBezTo>
                  <a:pt x="0" y="51225"/>
                  <a:pt x="51225" y="0"/>
                  <a:pt x="11431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9370" y="15697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75095" y="16840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6960870" y="1645923"/>
            <a:ext cx="2333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Applications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9370" y="2179323"/>
            <a:ext cx="5219700" cy="914400"/>
          </a:xfrm>
          <a:custGeom>
            <a:avLst/>
            <a:gdLst/>
            <a:ahLst/>
            <a:cxnLst/>
            <a:rect l="l" t="t" r="r" b="b"/>
            <a:pathLst>
              <a:path w="5219700" h="9144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838203"/>
                </a:lnTo>
                <a:cubicBezTo>
                  <a:pt x="5219700" y="880285"/>
                  <a:pt x="5185585" y="914400"/>
                  <a:pt x="51435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03670" y="23126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89395" y="241744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998970" y="2293623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 Team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8970" y="2522223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driver allocation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03670" y="2788923"/>
            <a:ext cx="5057775" cy="190500"/>
          </a:xfrm>
          <a:prstGeom prst="rect">
            <a:avLst/>
          </a:prstGeom>
          <a:noFill/>
          <a:ln/>
        </p:spPr>
        <p:txBody>
          <a:bodyPr wrap="square" lIns="4953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deployment based on demand patterns and peak hour predictions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9370" y="3208023"/>
            <a:ext cx="5219700" cy="1104900"/>
          </a:xfrm>
          <a:custGeom>
            <a:avLst/>
            <a:gdLst/>
            <a:ahLst/>
            <a:cxnLst/>
            <a:rect l="l" t="t" r="r" b="b"/>
            <a:pathLst>
              <a:path w="5219700" h="1104900">
                <a:moveTo>
                  <a:pt x="76205" y="0"/>
                </a:moveTo>
                <a:lnTo>
                  <a:pt x="5143495" y="0"/>
                </a:lnTo>
                <a:cubicBezTo>
                  <a:pt x="5185582" y="0"/>
                  <a:pt x="5219700" y="34118"/>
                  <a:pt x="5219700" y="76205"/>
                </a:cubicBezTo>
                <a:lnTo>
                  <a:pt x="5219700" y="1028695"/>
                </a:lnTo>
                <a:cubicBezTo>
                  <a:pt x="5219700" y="1070782"/>
                  <a:pt x="5185582" y="1104900"/>
                  <a:pt x="51434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03670" y="33413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10826" y="34461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6998970" y="3322323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 Team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98970" y="3550923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surge pricing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03670" y="3817623"/>
            <a:ext cx="5057775" cy="381000"/>
          </a:xfrm>
          <a:prstGeom prst="rect">
            <a:avLst/>
          </a:prstGeom>
          <a:noFill/>
          <a:ln/>
        </p:spPr>
        <p:txBody>
          <a:bodyPr wrap="square" lIns="4953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pricing models based on demand-supply gaps and revenue optimization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9370" y="4427223"/>
            <a:ext cx="5219700" cy="1104900"/>
          </a:xfrm>
          <a:custGeom>
            <a:avLst/>
            <a:gdLst/>
            <a:ahLst/>
            <a:cxnLst/>
            <a:rect l="l" t="t" r="r" b="b"/>
            <a:pathLst>
              <a:path w="5219700" h="1104900">
                <a:moveTo>
                  <a:pt x="76205" y="0"/>
                </a:moveTo>
                <a:lnTo>
                  <a:pt x="5143495" y="0"/>
                </a:lnTo>
                <a:cubicBezTo>
                  <a:pt x="5185582" y="0"/>
                  <a:pt x="5219700" y="34118"/>
                  <a:pt x="5219700" y="76205"/>
                </a:cubicBezTo>
                <a:lnTo>
                  <a:pt x="5219700" y="1028695"/>
                </a:lnTo>
                <a:cubicBezTo>
                  <a:pt x="5219700" y="1070782"/>
                  <a:pt x="5185582" y="1104900"/>
                  <a:pt x="51434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03670" y="45605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10826" y="46653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4439" y="6329"/>
                </a:moveTo>
                <a:cubicBezTo>
                  <a:pt x="158290" y="8037"/>
                  <a:pt x="160734" y="11854"/>
                  <a:pt x="160734" y="16073"/>
                </a:cubicBezTo>
                <a:lnTo>
                  <a:pt x="160734" y="155377"/>
                </a:lnTo>
                <a:cubicBezTo>
                  <a:pt x="160734" y="159596"/>
                  <a:pt x="158290" y="163413"/>
                  <a:pt x="154439" y="165121"/>
                </a:cubicBezTo>
                <a:cubicBezTo>
                  <a:pt x="150588" y="166829"/>
                  <a:pt x="146134" y="166193"/>
                  <a:pt x="142953" y="163413"/>
                </a:cubicBezTo>
                <a:lnTo>
                  <a:pt x="127349" y="149784"/>
                </a:lnTo>
                <a:cubicBezTo>
                  <a:pt x="112748" y="137026"/>
                  <a:pt x="94297" y="129592"/>
                  <a:pt x="74976" y="128688"/>
                </a:cubicBezTo>
                <a:lnTo>
                  <a:pt x="74976" y="160734"/>
                </a:lnTo>
                <a:cubicBezTo>
                  <a:pt x="74976" y="166661"/>
                  <a:pt x="70187" y="171450"/>
                  <a:pt x="64260" y="171450"/>
                </a:cubicBezTo>
                <a:lnTo>
                  <a:pt x="53545" y="171450"/>
                </a:lnTo>
                <a:cubicBezTo>
                  <a:pt x="47618" y="171450"/>
                  <a:pt x="42829" y="166661"/>
                  <a:pt x="42829" y="160734"/>
                </a:cubicBezTo>
                <a:lnTo>
                  <a:pt x="42829" y="128588"/>
                </a:lnTo>
                <a:cubicBezTo>
                  <a:pt x="19188" y="128588"/>
                  <a:pt x="0" y="109400"/>
                  <a:pt x="0" y="85725"/>
                </a:cubicBezTo>
                <a:cubicBezTo>
                  <a:pt x="0" y="62050"/>
                  <a:pt x="19188" y="42863"/>
                  <a:pt x="42863" y="42863"/>
                </a:cubicBezTo>
                <a:lnTo>
                  <a:pt x="71158" y="42863"/>
                </a:lnTo>
                <a:cubicBezTo>
                  <a:pt x="91853" y="42796"/>
                  <a:pt x="111811" y="35261"/>
                  <a:pt x="127382" y="21666"/>
                </a:cubicBezTo>
                <a:lnTo>
                  <a:pt x="142987" y="8037"/>
                </a:lnTo>
                <a:cubicBezTo>
                  <a:pt x="146134" y="5257"/>
                  <a:pt x="150655" y="4621"/>
                  <a:pt x="154472" y="6329"/>
                </a:cubicBezTo>
                <a:close/>
                <a:moveTo>
                  <a:pt x="75009" y="107156"/>
                </a:moveTo>
                <a:lnTo>
                  <a:pt x="75009" y="107223"/>
                </a:lnTo>
                <a:cubicBezTo>
                  <a:pt x="98550" y="108127"/>
                  <a:pt x="121154" y="116767"/>
                  <a:pt x="139303" y="131802"/>
                </a:cubicBezTo>
                <a:lnTo>
                  <a:pt x="139303" y="39614"/>
                </a:lnTo>
                <a:cubicBezTo>
                  <a:pt x="121154" y="54650"/>
                  <a:pt x="98550" y="63289"/>
                  <a:pt x="75009" y="64193"/>
                </a:cubicBezTo>
                <a:lnTo>
                  <a:pt x="75009" y="10715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6998970" y="454152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Teams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98970" y="4770123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high-demand zones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03670" y="5036823"/>
            <a:ext cx="5057775" cy="381000"/>
          </a:xfrm>
          <a:prstGeom prst="rect">
            <a:avLst/>
          </a:prstGeom>
          <a:noFill/>
          <a:ln/>
        </p:spPr>
        <p:txBody>
          <a:bodyPr wrap="square" lIns="4953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Campaign targeting based on location analytics and customer behavior patterns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9370" y="5646423"/>
            <a:ext cx="5219700" cy="914400"/>
          </a:xfrm>
          <a:custGeom>
            <a:avLst/>
            <a:gdLst/>
            <a:ahLst/>
            <a:cxnLst/>
            <a:rect l="l" t="t" r="r" b="b"/>
            <a:pathLst>
              <a:path w="5219700" h="9144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838203"/>
                </a:lnTo>
                <a:cubicBezTo>
                  <a:pt x="5219700" y="880285"/>
                  <a:pt x="5185585" y="914400"/>
                  <a:pt x="51435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503670" y="57797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21542" y="588454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9" name="Text 57"/>
          <p:cNvSpPr/>
          <p:nvPr/>
        </p:nvSpPr>
        <p:spPr>
          <a:xfrm>
            <a:off x="6998970" y="5760723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98970" y="5989323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revenue &amp; quality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03670" y="6256023"/>
            <a:ext cx="5057775" cy="190500"/>
          </a:xfrm>
          <a:prstGeom prst="rect">
            <a:avLst/>
          </a:prstGeom>
          <a:noFill/>
          <a:ln/>
        </p:spPr>
        <p:txBody>
          <a:bodyPr wrap="square" lIns="4953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dashboards for KPI tracking and service quality assessment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1257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spc="119" kern="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OUTCOMES &amp;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79430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461" y="1170130"/>
            <a:ext cx="905907" cy="37746"/>
          </a:xfrm>
          <a:custGeom>
            <a:avLst/>
            <a:gdLst/>
            <a:ahLst/>
            <a:cxnLst/>
            <a:rect l="l" t="t" r="r" b="b"/>
            <a:pathLst>
              <a:path w="905907" h="37746">
                <a:moveTo>
                  <a:pt x="0" y="0"/>
                </a:moveTo>
                <a:lnTo>
                  <a:pt x="905907" y="0"/>
                </a:lnTo>
                <a:lnTo>
                  <a:pt x="905907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385011" y="1366410"/>
            <a:ext cx="5610962" cy="4676746"/>
          </a:xfrm>
          <a:custGeom>
            <a:avLst/>
            <a:gdLst/>
            <a:ahLst/>
            <a:cxnLst/>
            <a:rect l="l" t="t" r="r" b="b"/>
            <a:pathLst>
              <a:path w="5610962" h="4676746">
                <a:moveTo>
                  <a:pt x="113224" y="0"/>
                </a:moveTo>
                <a:lnTo>
                  <a:pt x="5497738" y="0"/>
                </a:lnTo>
                <a:cubicBezTo>
                  <a:pt x="5560270" y="0"/>
                  <a:pt x="5610962" y="50692"/>
                  <a:pt x="5610962" y="113224"/>
                </a:cubicBezTo>
                <a:lnTo>
                  <a:pt x="5610962" y="4563522"/>
                </a:lnTo>
                <a:cubicBezTo>
                  <a:pt x="5610962" y="4626053"/>
                  <a:pt x="5560270" y="4676746"/>
                  <a:pt x="5497738" y="4676746"/>
                </a:cubicBezTo>
                <a:lnTo>
                  <a:pt x="113224" y="4676746"/>
                </a:lnTo>
                <a:cubicBezTo>
                  <a:pt x="50692" y="4676746"/>
                  <a:pt x="0" y="4626053"/>
                  <a:pt x="0" y="4563522"/>
                </a:cubicBezTo>
                <a:lnTo>
                  <a:pt x="0" y="113224"/>
                </a:lnTo>
                <a:cubicBezTo>
                  <a:pt x="0" y="50734"/>
                  <a:pt x="50734" y="0"/>
                  <a:pt x="11322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2032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290" y="1562691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113238" y="0"/>
                </a:moveTo>
                <a:lnTo>
                  <a:pt x="339715" y="0"/>
                </a:lnTo>
                <a:cubicBezTo>
                  <a:pt x="402213" y="0"/>
                  <a:pt x="452954" y="50740"/>
                  <a:pt x="452954" y="113238"/>
                </a:cubicBezTo>
                <a:lnTo>
                  <a:pt x="452954" y="339715"/>
                </a:lnTo>
                <a:cubicBezTo>
                  <a:pt x="452954" y="402213"/>
                  <a:pt x="402213" y="452954"/>
                  <a:pt x="339715" y="452954"/>
                </a:cubicBezTo>
                <a:lnTo>
                  <a:pt x="113238" y="452954"/>
                </a:lnTo>
                <a:cubicBezTo>
                  <a:pt x="50740" y="452954"/>
                  <a:pt x="0" y="402213"/>
                  <a:pt x="0" y="339715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694529" y="1675929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226477"/>
                </a:moveTo>
                <a:cubicBezTo>
                  <a:pt x="175736" y="226477"/>
                  <a:pt x="226477" y="175736"/>
                  <a:pt x="226477" y="113238"/>
                </a:cubicBezTo>
                <a:cubicBezTo>
                  <a:pt x="226477" y="50740"/>
                  <a:pt x="175736" y="0"/>
                  <a:pt x="113238" y="0"/>
                </a:cubicBezTo>
                <a:cubicBezTo>
                  <a:pt x="50740" y="0"/>
                  <a:pt x="0" y="50740"/>
                  <a:pt x="0" y="113238"/>
                </a:cubicBezTo>
                <a:cubicBezTo>
                  <a:pt x="0" y="175736"/>
                  <a:pt x="50740" y="226477"/>
                  <a:pt x="113238" y="226477"/>
                </a:cubicBezTo>
                <a:close/>
                <a:moveTo>
                  <a:pt x="150572" y="94085"/>
                </a:moveTo>
                <a:lnTo>
                  <a:pt x="115185" y="150704"/>
                </a:lnTo>
                <a:cubicBezTo>
                  <a:pt x="113327" y="153668"/>
                  <a:pt x="110142" y="155526"/>
                  <a:pt x="106648" y="155703"/>
                </a:cubicBezTo>
                <a:cubicBezTo>
                  <a:pt x="103153" y="155880"/>
                  <a:pt x="99791" y="154287"/>
                  <a:pt x="97712" y="151456"/>
                </a:cubicBezTo>
                <a:lnTo>
                  <a:pt x="76480" y="123147"/>
                </a:lnTo>
                <a:cubicBezTo>
                  <a:pt x="72941" y="118458"/>
                  <a:pt x="73915" y="111823"/>
                  <a:pt x="78603" y="108284"/>
                </a:cubicBezTo>
                <a:cubicBezTo>
                  <a:pt x="83292" y="104746"/>
                  <a:pt x="89927" y="105719"/>
                  <a:pt x="93466" y="110407"/>
                </a:cubicBezTo>
                <a:lnTo>
                  <a:pt x="105409" y="126332"/>
                </a:lnTo>
                <a:lnTo>
                  <a:pt x="132569" y="82850"/>
                </a:lnTo>
                <a:cubicBezTo>
                  <a:pt x="135665" y="77896"/>
                  <a:pt x="142211" y="76347"/>
                  <a:pt x="147210" y="79488"/>
                </a:cubicBezTo>
                <a:cubicBezTo>
                  <a:pt x="152208" y="82629"/>
                  <a:pt x="153712" y="89131"/>
                  <a:pt x="150572" y="9412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47482" y="1638183"/>
            <a:ext cx="1981672" cy="3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290" y="2166629"/>
            <a:ext cx="5293895" cy="7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how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transportation data can be transformed into meaningful business insights.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leveraging SQL, data preprocessing, and Power BI visualization, the Uber Trip Analysis dashboard helps in: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290" y="3060505"/>
            <a:ext cx="5218402" cy="641684"/>
          </a:xfrm>
          <a:custGeom>
            <a:avLst/>
            <a:gdLst/>
            <a:ahLst/>
            <a:cxnLst/>
            <a:rect l="l" t="t" r="r" b="b"/>
            <a:pathLst>
              <a:path w="5218402" h="641684">
                <a:moveTo>
                  <a:pt x="75494" y="0"/>
                </a:moveTo>
                <a:lnTo>
                  <a:pt x="5142908" y="0"/>
                </a:lnTo>
                <a:cubicBezTo>
                  <a:pt x="5184603" y="0"/>
                  <a:pt x="5218402" y="33800"/>
                  <a:pt x="5218402" y="75494"/>
                </a:cubicBezTo>
                <a:lnTo>
                  <a:pt x="5218402" y="566190"/>
                </a:lnTo>
                <a:cubicBezTo>
                  <a:pt x="5218402" y="607884"/>
                  <a:pt x="5184603" y="641684"/>
                  <a:pt x="5142908" y="641684"/>
                </a:cubicBezTo>
                <a:lnTo>
                  <a:pt x="75494" y="641684"/>
                </a:lnTo>
                <a:cubicBezTo>
                  <a:pt x="33800" y="641684"/>
                  <a:pt x="0" y="607884"/>
                  <a:pt x="0" y="566190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6324" y="3211490"/>
            <a:ext cx="212322" cy="188731"/>
          </a:xfrm>
          <a:custGeom>
            <a:avLst/>
            <a:gdLst/>
            <a:ahLst/>
            <a:cxnLst/>
            <a:rect l="l" t="t" r="r" b="b"/>
            <a:pathLst>
              <a:path w="212322" h="188731">
                <a:moveTo>
                  <a:pt x="141548" y="58978"/>
                </a:moveTo>
                <a:cubicBezTo>
                  <a:pt x="135024" y="58978"/>
                  <a:pt x="129752" y="53707"/>
                  <a:pt x="129752" y="47183"/>
                </a:cubicBezTo>
                <a:cubicBezTo>
                  <a:pt x="129752" y="40658"/>
                  <a:pt x="135024" y="35387"/>
                  <a:pt x="141548" y="35387"/>
                </a:cubicBezTo>
                <a:lnTo>
                  <a:pt x="200526" y="35387"/>
                </a:lnTo>
                <a:cubicBezTo>
                  <a:pt x="207051" y="35387"/>
                  <a:pt x="212322" y="40658"/>
                  <a:pt x="212322" y="47183"/>
                </a:cubicBezTo>
                <a:lnTo>
                  <a:pt x="212322" y="106161"/>
                </a:lnTo>
                <a:cubicBezTo>
                  <a:pt x="212322" y="112685"/>
                  <a:pt x="207051" y="117957"/>
                  <a:pt x="200526" y="117957"/>
                </a:cubicBezTo>
                <a:cubicBezTo>
                  <a:pt x="194002" y="117957"/>
                  <a:pt x="188731" y="112685"/>
                  <a:pt x="188731" y="106161"/>
                </a:cubicBezTo>
                <a:lnTo>
                  <a:pt x="188731" y="75677"/>
                </a:lnTo>
                <a:lnTo>
                  <a:pt x="126287" y="138120"/>
                </a:lnTo>
                <a:cubicBezTo>
                  <a:pt x="121680" y="142728"/>
                  <a:pt x="114197" y="142728"/>
                  <a:pt x="109589" y="138120"/>
                </a:cubicBezTo>
                <a:lnTo>
                  <a:pt x="70774" y="99268"/>
                </a:lnTo>
                <a:lnTo>
                  <a:pt x="20126" y="149879"/>
                </a:lnTo>
                <a:cubicBezTo>
                  <a:pt x="15519" y="154486"/>
                  <a:pt x="8036" y="154486"/>
                  <a:pt x="3428" y="149879"/>
                </a:cubicBezTo>
                <a:cubicBezTo>
                  <a:pt x="-1180" y="145271"/>
                  <a:pt x="-1180" y="137788"/>
                  <a:pt x="3428" y="133180"/>
                </a:cubicBezTo>
                <a:lnTo>
                  <a:pt x="62406" y="74202"/>
                </a:lnTo>
                <a:cubicBezTo>
                  <a:pt x="67014" y="69594"/>
                  <a:pt x="74497" y="69594"/>
                  <a:pt x="79105" y="74202"/>
                </a:cubicBezTo>
                <a:lnTo>
                  <a:pt x="117957" y="113054"/>
                </a:lnTo>
                <a:lnTo>
                  <a:pt x="172032" y="58978"/>
                </a:lnTo>
                <a:lnTo>
                  <a:pt x="141548" y="5897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680" y="3173744"/>
            <a:ext cx="391616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Demand Trends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3680" y="3400220"/>
            <a:ext cx="390672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hours, seasonal patterns, and location-based demand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290" y="3829232"/>
            <a:ext cx="5218402" cy="641684"/>
          </a:xfrm>
          <a:custGeom>
            <a:avLst/>
            <a:gdLst/>
            <a:ahLst/>
            <a:cxnLst/>
            <a:rect l="l" t="t" r="r" b="b"/>
            <a:pathLst>
              <a:path w="5218402" h="641684">
                <a:moveTo>
                  <a:pt x="75494" y="0"/>
                </a:moveTo>
                <a:lnTo>
                  <a:pt x="5142908" y="0"/>
                </a:lnTo>
                <a:cubicBezTo>
                  <a:pt x="5184603" y="0"/>
                  <a:pt x="5218402" y="33800"/>
                  <a:pt x="5218402" y="75494"/>
                </a:cubicBezTo>
                <a:lnTo>
                  <a:pt x="5218402" y="566190"/>
                </a:lnTo>
                <a:cubicBezTo>
                  <a:pt x="5218402" y="607884"/>
                  <a:pt x="5184603" y="641684"/>
                  <a:pt x="5142908" y="641684"/>
                </a:cubicBezTo>
                <a:lnTo>
                  <a:pt x="75494" y="641684"/>
                </a:lnTo>
                <a:cubicBezTo>
                  <a:pt x="33800" y="641684"/>
                  <a:pt x="0" y="607884"/>
                  <a:pt x="0" y="566190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94529" y="3980217"/>
            <a:ext cx="235913" cy="188731"/>
          </a:xfrm>
          <a:custGeom>
            <a:avLst/>
            <a:gdLst/>
            <a:ahLst/>
            <a:cxnLst/>
            <a:rect l="l" t="t" r="r" b="b"/>
            <a:pathLst>
              <a:path w="235913" h="188731">
                <a:moveTo>
                  <a:pt x="153307" y="77593"/>
                </a:moveTo>
                <a:cubicBezTo>
                  <a:pt x="157804" y="76377"/>
                  <a:pt x="162522" y="78515"/>
                  <a:pt x="164550" y="82680"/>
                </a:cubicBezTo>
                <a:lnTo>
                  <a:pt x="171406" y="96540"/>
                </a:lnTo>
                <a:cubicBezTo>
                  <a:pt x="175202" y="97056"/>
                  <a:pt x="178926" y="98088"/>
                  <a:pt x="182427" y="99526"/>
                </a:cubicBezTo>
                <a:lnTo>
                  <a:pt x="195329" y="90937"/>
                </a:lnTo>
                <a:cubicBezTo>
                  <a:pt x="199199" y="88357"/>
                  <a:pt x="204323" y="88873"/>
                  <a:pt x="207604" y="92154"/>
                </a:cubicBezTo>
                <a:lnTo>
                  <a:pt x="214681" y="99231"/>
                </a:lnTo>
                <a:cubicBezTo>
                  <a:pt x="217962" y="102512"/>
                  <a:pt x="218478" y="107672"/>
                  <a:pt x="215898" y="111506"/>
                </a:cubicBezTo>
                <a:lnTo>
                  <a:pt x="207309" y="124371"/>
                </a:lnTo>
                <a:cubicBezTo>
                  <a:pt x="208009" y="126103"/>
                  <a:pt x="208636" y="127909"/>
                  <a:pt x="209152" y="129789"/>
                </a:cubicBezTo>
                <a:cubicBezTo>
                  <a:pt x="209668" y="131669"/>
                  <a:pt x="210000" y="133512"/>
                  <a:pt x="210258" y="135392"/>
                </a:cubicBezTo>
                <a:lnTo>
                  <a:pt x="224155" y="142248"/>
                </a:lnTo>
                <a:cubicBezTo>
                  <a:pt x="228320" y="144313"/>
                  <a:pt x="230458" y="149031"/>
                  <a:pt x="229241" y="153491"/>
                </a:cubicBezTo>
                <a:lnTo>
                  <a:pt x="226661" y="163149"/>
                </a:lnTo>
                <a:cubicBezTo>
                  <a:pt x="225445" y="167609"/>
                  <a:pt x="221279" y="170632"/>
                  <a:pt x="216635" y="170337"/>
                </a:cubicBezTo>
                <a:lnTo>
                  <a:pt x="201153" y="169342"/>
                </a:lnTo>
                <a:cubicBezTo>
                  <a:pt x="198831" y="172327"/>
                  <a:pt x="196140" y="175092"/>
                  <a:pt x="193080" y="177451"/>
                </a:cubicBezTo>
                <a:lnTo>
                  <a:pt x="194076" y="192896"/>
                </a:lnTo>
                <a:cubicBezTo>
                  <a:pt x="194370" y="197541"/>
                  <a:pt x="191348" y="201743"/>
                  <a:pt x="186888" y="202922"/>
                </a:cubicBezTo>
                <a:lnTo>
                  <a:pt x="177230" y="205503"/>
                </a:lnTo>
                <a:cubicBezTo>
                  <a:pt x="172733" y="206719"/>
                  <a:pt x="168051" y="204581"/>
                  <a:pt x="165987" y="200416"/>
                </a:cubicBezTo>
                <a:lnTo>
                  <a:pt x="159131" y="186556"/>
                </a:lnTo>
                <a:cubicBezTo>
                  <a:pt x="155334" y="186040"/>
                  <a:pt x="151611" y="185008"/>
                  <a:pt x="148109" y="183570"/>
                </a:cubicBezTo>
                <a:lnTo>
                  <a:pt x="135208" y="192159"/>
                </a:lnTo>
                <a:cubicBezTo>
                  <a:pt x="131337" y="194739"/>
                  <a:pt x="126214" y="194223"/>
                  <a:pt x="122933" y="190942"/>
                </a:cubicBezTo>
                <a:lnTo>
                  <a:pt x="115856" y="183865"/>
                </a:lnTo>
                <a:cubicBezTo>
                  <a:pt x="112575" y="180584"/>
                  <a:pt x="112059" y="175461"/>
                  <a:pt x="114639" y="171590"/>
                </a:cubicBezTo>
                <a:lnTo>
                  <a:pt x="123228" y="158689"/>
                </a:lnTo>
                <a:cubicBezTo>
                  <a:pt x="122527" y="156956"/>
                  <a:pt x="121901" y="155150"/>
                  <a:pt x="121385" y="153270"/>
                </a:cubicBezTo>
                <a:cubicBezTo>
                  <a:pt x="120869" y="151390"/>
                  <a:pt x="120537" y="149510"/>
                  <a:pt x="120279" y="147667"/>
                </a:cubicBezTo>
                <a:lnTo>
                  <a:pt x="106382" y="140811"/>
                </a:lnTo>
                <a:cubicBezTo>
                  <a:pt x="102217" y="138747"/>
                  <a:pt x="100116" y="134028"/>
                  <a:pt x="101295" y="129568"/>
                </a:cubicBezTo>
                <a:lnTo>
                  <a:pt x="103876" y="119910"/>
                </a:lnTo>
                <a:cubicBezTo>
                  <a:pt x="105092" y="115450"/>
                  <a:pt x="109257" y="112427"/>
                  <a:pt x="113902" y="112722"/>
                </a:cubicBezTo>
                <a:lnTo>
                  <a:pt x="129347" y="113718"/>
                </a:lnTo>
                <a:cubicBezTo>
                  <a:pt x="131669" y="110732"/>
                  <a:pt x="134360" y="107967"/>
                  <a:pt x="137420" y="105608"/>
                </a:cubicBezTo>
                <a:lnTo>
                  <a:pt x="136424" y="90200"/>
                </a:lnTo>
                <a:cubicBezTo>
                  <a:pt x="136129" y="85555"/>
                  <a:pt x="139152" y="81353"/>
                  <a:pt x="143612" y="80174"/>
                </a:cubicBezTo>
                <a:lnTo>
                  <a:pt x="153270" y="77593"/>
                </a:lnTo>
                <a:close/>
                <a:moveTo>
                  <a:pt x="165287" y="125329"/>
                </a:moveTo>
                <a:cubicBezTo>
                  <a:pt x="156335" y="125339"/>
                  <a:pt x="149076" y="132615"/>
                  <a:pt x="149086" y="141566"/>
                </a:cubicBezTo>
                <a:cubicBezTo>
                  <a:pt x="149096" y="150518"/>
                  <a:pt x="156372" y="157777"/>
                  <a:pt x="165324" y="157767"/>
                </a:cubicBezTo>
                <a:cubicBezTo>
                  <a:pt x="174275" y="157757"/>
                  <a:pt x="181534" y="150481"/>
                  <a:pt x="181524" y="141530"/>
                </a:cubicBezTo>
                <a:cubicBezTo>
                  <a:pt x="181514" y="132578"/>
                  <a:pt x="174238" y="125319"/>
                  <a:pt x="165287" y="125329"/>
                </a:cubicBezTo>
                <a:close/>
                <a:moveTo>
                  <a:pt x="82901" y="-16772"/>
                </a:moveTo>
                <a:lnTo>
                  <a:pt x="92559" y="-14192"/>
                </a:lnTo>
                <a:cubicBezTo>
                  <a:pt x="97019" y="-12975"/>
                  <a:pt x="100042" y="-8773"/>
                  <a:pt x="99747" y="-4165"/>
                </a:cubicBezTo>
                <a:lnTo>
                  <a:pt x="98752" y="11243"/>
                </a:lnTo>
                <a:cubicBezTo>
                  <a:pt x="101811" y="13602"/>
                  <a:pt x="104502" y="16330"/>
                  <a:pt x="106824" y="19352"/>
                </a:cubicBezTo>
                <a:lnTo>
                  <a:pt x="122306" y="18357"/>
                </a:lnTo>
                <a:cubicBezTo>
                  <a:pt x="126914" y="18062"/>
                  <a:pt x="131116" y="21085"/>
                  <a:pt x="132333" y="25545"/>
                </a:cubicBezTo>
                <a:lnTo>
                  <a:pt x="134913" y="35203"/>
                </a:lnTo>
                <a:cubicBezTo>
                  <a:pt x="136092" y="39663"/>
                  <a:pt x="133991" y="44381"/>
                  <a:pt x="129826" y="46445"/>
                </a:cubicBezTo>
                <a:lnTo>
                  <a:pt x="115929" y="53302"/>
                </a:lnTo>
                <a:cubicBezTo>
                  <a:pt x="115671" y="55182"/>
                  <a:pt x="115303" y="57062"/>
                  <a:pt x="114823" y="58905"/>
                </a:cubicBezTo>
                <a:cubicBezTo>
                  <a:pt x="114344" y="60748"/>
                  <a:pt x="113681" y="62591"/>
                  <a:pt x="112980" y="64323"/>
                </a:cubicBezTo>
                <a:lnTo>
                  <a:pt x="121569" y="77225"/>
                </a:lnTo>
                <a:cubicBezTo>
                  <a:pt x="124149" y="81095"/>
                  <a:pt x="123633" y="86219"/>
                  <a:pt x="120353" y="89500"/>
                </a:cubicBezTo>
                <a:lnTo>
                  <a:pt x="113275" y="96577"/>
                </a:lnTo>
                <a:cubicBezTo>
                  <a:pt x="109995" y="99858"/>
                  <a:pt x="104871" y="100374"/>
                  <a:pt x="101000" y="97793"/>
                </a:cubicBezTo>
                <a:lnTo>
                  <a:pt x="88099" y="89205"/>
                </a:lnTo>
                <a:cubicBezTo>
                  <a:pt x="84597" y="90642"/>
                  <a:pt x="80874" y="91674"/>
                  <a:pt x="77077" y="92190"/>
                </a:cubicBezTo>
                <a:lnTo>
                  <a:pt x="70221" y="106050"/>
                </a:lnTo>
                <a:cubicBezTo>
                  <a:pt x="68157" y="110216"/>
                  <a:pt x="63439" y="112317"/>
                  <a:pt x="58978" y="111137"/>
                </a:cubicBezTo>
                <a:lnTo>
                  <a:pt x="49321" y="108557"/>
                </a:lnTo>
                <a:cubicBezTo>
                  <a:pt x="44824" y="107341"/>
                  <a:pt x="41838" y="103138"/>
                  <a:pt x="42133" y="98531"/>
                </a:cubicBezTo>
                <a:lnTo>
                  <a:pt x="43128" y="83086"/>
                </a:lnTo>
                <a:cubicBezTo>
                  <a:pt x="40068" y="80727"/>
                  <a:pt x="37378" y="77999"/>
                  <a:pt x="35055" y="74976"/>
                </a:cubicBezTo>
                <a:lnTo>
                  <a:pt x="19573" y="75971"/>
                </a:lnTo>
                <a:cubicBezTo>
                  <a:pt x="14966" y="76266"/>
                  <a:pt x="10764" y="73244"/>
                  <a:pt x="9547" y="68783"/>
                </a:cubicBezTo>
                <a:lnTo>
                  <a:pt x="6967" y="59126"/>
                </a:lnTo>
                <a:cubicBezTo>
                  <a:pt x="5787" y="54666"/>
                  <a:pt x="7888" y="49947"/>
                  <a:pt x="12054" y="47883"/>
                </a:cubicBezTo>
                <a:lnTo>
                  <a:pt x="25950" y="41027"/>
                </a:lnTo>
                <a:cubicBezTo>
                  <a:pt x="26208" y="39147"/>
                  <a:pt x="26577" y="37304"/>
                  <a:pt x="27056" y="35424"/>
                </a:cubicBezTo>
                <a:cubicBezTo>
                  <a:pt x="27572" y="33544"/>
                  <a:pt x="28162" y="31738"/>
                  <a:pt x="28899" y="30005"/>
                </a:cubicBezTo>
                <a:lnTo>
                  <a:pt x="20311" y="17141"/>
                </a:lnTo>
                <a:cubicBezTo>
                  <a:pt x="17730" y="13270"/>
                  <a:pt x="18246" y="8146"/>
                  <a:pt x="21527" y="4866"/>
                </a:cubicBezTo>
                <a:lnTo>
                  <a:pt x="28604" y="-2212"/>
                </a:lnTo>
                <a:cubicBezTo>
                  <a:pt x="31885" y="-5492"/>
                  <a:pt x="37009" y="-6008"/>
                  <a:pt x="40879" y="-3428"/>
                </a:cubicBezTo>
                <a:lnTo>
                  <a:pt x="53781" y="5161"/>
                </a:lnTo>
                <a:cubicBezTo>
                  <a:pt x="57283" y="3723"/>
                  <a:pt x="61006" y="2691"/>
                  <a:pt x="64802" y="2175"/>
                </a:cubicBezTo>
                <a:lnTo>
                  <a:pt x="71659" y="-11685"/>
                </a:lnTo>
                <a:cubicBezTo>
                  <a:pt x="73723" y="-15850"/>
                  <a:pt x="78404" y="-17952"/>
                  <a:pt x="82901" y="-16772"/>
                </a:cubicBezTo>
                <a:close/>
                <a:moveTo>
                  <a:pt x="70921" y="30964"/>
                </a:moveTo>
                <a:cubicBezTo>
                  <a:pt x="61970" y="30964"/>
                  <a:pt x="54702" y="38231"/>
                  <a:pt x="54702" y="47183"/>
                </a:cubicBezTo>
                <a:cubicBezTo>
                  <a:pt x="54702" y="56134"/>
                  <a:pt x="61970" y="63402"/>
                  <a:pt x="70921" y="63402"/>
                </a:cubicBezTo>
                <a:cubicBezTo>
                  <a:pt x="79873" y="63402"/>
                  <a:pt x="87140" y="56134"/>
                  <a:pt x="87140" y="47183"/>
                </a:cubicBezTo>
                <a:cubicBezTo>
                  <a:pt x="87140" y="38231"/>
                  <a:pt x="79873" y="30964"/>
                  <a:pt x="70921" y="3096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43680" y="3942471"/>
            <a:ext cx="3567009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Improving Operational Efficiency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3680" y="4168948"/>
            <a:ext cx="355757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driver allocation and reduced customer wait times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290" y="4598070"/>
            <a:ext cx="5218402" cy="641684"/>
          </a:xfrm>
          <a:custGeom>
            <a:avLst/>
            <a:gdLst/>
            <a:ahLst/>
            <a:cxnLst/>
            <a:rect l="l" t="t" r="r" b="b"/>
            <a:pathLst>
              <a:path w="5218402" h="641684">
                <a:moveTo>
                  <a:pt x="75494" y="0"/>
                </a:moveTo>
                <a:lnTo>
                  <a:pt x="5142908" y="0"/>
                </a:lnTo>
                <a:cubicBezTo>
                  <a:pt x="5184603" y="0"/>
                  <a:pt x="5218402" y="33800"/>
                  <a:pt x="5218402" y="75494"/>
                </a:cubicBezTo>
                <a:lnTo>
                  <a:pt x="5218402" y="566190"/>
                </a:lnTo>
                <a:cubicBezTo>
                  <a:pt x="5218402" y="607884"/>
                  <a:pt x="5184603" y="641684"/>
                  <a:pt x="5142908" y="641684"/>
                </a:cubicBezTo>
                <a:lnTo>
                  <a:pt x="75494" y="641684"/>
                </a:lnTo>
                <a:cubicBezTo>
                  <a:pt x="33800" y="641684"/>
                  <a:pt x="0" y="607884"/>
                  <a:pt x="0" y="566190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1711" y="4749055"/>
            <a:ext cx="141548" cy="188731"/>
          </a:xfrm>
          <a:custGeom>
            <a:avLst/>
            <a:gdLst/>
            <a:ahLst/>
            <a:cxnLst/>
            <a:rect l="l" t="t" r="r" b="b"/>
            <a:pathLst>
              <a:path w="141548" h="188731">
                <a:moveTo>
                  <a:pt x="107967" y="141548"/>
                </a:moveTo>
                <a:cubicBezTo>
                  <a:pt x="110658" y="133328"/>
                  <a:pt x="116040" y="125882"/>
                  <a:pt x="122122" y="119468"/>
                </a:cubicBezTo>
                <a:cubicBezTo>
                  <a:pt x="134176" y="106788"/>
                  <a:pt x="141548" y="89647"/>
                  <a:pt x="141548" y="70774"/>
                </a:cubicBezTo>
                <a:cubicBezTo>
                  <a:pt x="141548" y="31701"/>
                  <a:pt x="109847" y="0"/>
                  <a:pt x="70774" y="0"/>
                </a:cubicBezTo>
                <a:cubicBezTo>
                  <a:pt x="31701" y="0"/>
                  <a:pt x="0" y="31701"/>
                  <a:pt x="0" y="70774"/>
                </a:cubicBezTo>
                <a:cubicBezTo>
                  <a:pt x="0" y="89647"/>
                  <a:pt x="7372" y="106788"/>
                  <a:pt x="19426" y="119468"/>
                </a:cubicBezTo>
                <a:cubicBezTo>
                  <a:pt x="25508" y="125882"/>
                  <a:pt x="30927" y="133328"/>
                  <a:pt x="33581" y="141548"/>
                </a:cubicBezTo>
                <a:lnTo>
                  <a:pt x="107930" y="141548"/>
                </a:lnTo>
                <a:close/>
                <a:moveTo>
                  <a:pt x="106161" y="159241"/>
                </a:moveTo>
                <a:lnTo>
                  <a:pt x="35387" y="159241"/>
                </a:lnTo>
                <a:lnTo>
                  <a:pt x="35387" y="165139"/>
                </a:lnTo>
                <a:cubicBezTo>
                  <a:pt x="35387" y="181432"/>
                  <a:pt x="48583" y="194628"/>
                  <a:pt x="64876" y="194628"/>
                </a:cubicBezTo>
                <a:lnTo>
                  <a:pt x="76672" y="194628"/>
                </a:lnTo>
                <a:cubicBezTo>
                  <a:pt x="92965" y="194628"/>
                  <a:pt x="106161" y="181432"/>
                  <a:pt x="106161" y="165139"/>
                </a:cubicBezTo>
                <a:lnTo>
                  <a:pt x="106161" y="159241"/>
                </a:lnTo>
                <a:close/>
                <a:moveTo>
                  <a:pt x="67825" y="41285"/>
                </a:moveTo>
                <a:cubicBezTo>
                  <a:pt x="53154" y="41285"/>
                  <a:pt x="41285" y="53154"/>
                  <a:pt x="41285" y="67825"/>
                </a:cubicBezTo>
                <a:cubicBezTo>
                  <a:pt x="41285" y="72728"/>
                  <a:pt x="37341" y="76672"/>
                  <a:pt x="32438" y="76672"/>
                </a:cubicBezTo>
                <a:cubicBezTo>
                  <a:pt x="27536" y="76672"/>
                  <a:pt x="23591" y="72728"/>
                  <a:pt x="23591" y="67825"/>
                </a:cubicBezTo>
                <a:cubicBezTo>
                  <a:pt x="23591" y="43386"/>
                  <a:pt x="43386" y="23591"/>
                  <a:pt x="67825" y="23591"/>
                </a:cubicBezTo>
                <a:cubicBezTo>
                  <a:pt x="72728" y="23591"/>
                  <a:pt x="76672" y="27536"/>
                  <a:pt x="76672" y="32438"/>
                </a:cubicBezTo>
                <a:cubicBezTo>
                  <a:pt x="76672" y="37341"/>
                  <a:pt x="72728" y="41285"/>
                  <a:pt x="67825" y="4128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3680" y="4711309"/>
            <a:ext cx="329335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Supporting Strategic Decision-Making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3680" y="4937785"/>
            <a:ext cx="328391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pricing, marketing, and expansion strategies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290" y="5397697"/>
            <a:ext cx="5218402" cy="452954"/>
          </a:xfrm>
          <a:custGeom>
            <a:avLst/>
            <a:gdLst/>
            <a:ahLst/>
            <a:cxnLst/>
            <a:rect l="l" t="t" r="r" b="b"/>
            <a:pathLst>
              <a:path w="5218402" h="452954">
                <a:moveTo>
                  <a:pt x="75494" y="0"/>
                </a:moveTo>
                <a:lnTo>
                  <a:pt x="5142909" y="0"/>
                </a:lnTo>
                <a:cubicBezTo>
                  <a:pt x="5184603" y="0"/>
                  <a:pt x="5218402" y="33800"/>
                  <a:pt x="5218402" y="75494"/>
                </a:cubicBezTo>
                <a:lnTo>
                  <a:pt x="5218402" y="377460"/>
                </a:lnTo>
                <a:cubicBezTo>
                  <a:pt x="5218402" y="419154"/>
                  <a:pt x="5184603" y="452954"/>
                  <a:pt x="5142909" y="452954"/>
                </a:cubicBezTo>
                <a:lnTo>
                  <a:pt x="75494" y="452954"/>
                </a:lnTo>
                <a:cubicBezTo>
                  <a:pt x="33828" y="452954"/>
                  <a:pt x="0" y="419126"/>
                  <a:pt x="0" y="377460"/>
                </a:cubicBezTo>
                <a:lnTo>
                  <a:pt x="0" y="75494"/>
                </a:lnTo>
                <a:cubicBezTo>
                  <a:pt x="0" y="33828"/>
                  <a:pt x="33828" y="0"/>
                  <a:pt x="75494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69277" y="5541134"/>
            <a:ext cx="4242429" cy="166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bridges the gap between raw trip data and actionable insights.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6145" y="1362635"/>
            <a:ext cx="5622286" cy="4688069"/>
          </a:xfrm>
          <a:custGeom>
            <a:avLst/>
            <a:gdLst/>
            <a:ahLst/>
            <a:cxnLst/>
            <a:rect l="l" t="t" r="r" b="b"/>
            <a:pathLst>
              <a:path w="5622286" h="4688069">
                <a:moveTo>
                  <a:pt x="113217" y="0"/>
                </a:moveTo>
                <a:lnTo>
                  <a:pt x="5509069" y="0"/>
                </a:lnTo>
                <a:cubicBezTo>
                  <a:pt x="5571597" y="0"/>
                  <a:pt x="5622286" y="50689"/>
                  <a:pt x="5622286" y="113217"/>
                </a:cubicBezTo>
                <a:lnTo>
                  <a:pt x="5622286" y="4574852"/>
                </a:lnTo>
                <a:cubicBezTo>
                  <a:pt x="5622286" y="4637380"/>
                  <a:pt x="5571597" y="4688069"/>
                  <a:pt x="5509069" y="4688069"/>
                </a:cubicBezTo>
                <a:lnTo>
                  <a:pt x="113217" y="4688069"/>
                </a:lnTo>
                <a:cubicBezTo>
                  <a:pt x="50689" y="4688069"/>
                  <a:pt x="0" y="4637380"/>
                  <a:pt x="0" y="4574852"/>
                </a:cubicBezTo>
                <a:lnTo>
                  <a:pt x="0" y="113217"/>
                </a:lnTo>
                <a:cubicBezTo>
                  <a:pt x="0" y="50731"/>
                  <a:pt x="50731" y="0"/>
                  <a:pt x="11321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8651" y="1555143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113238" y="0"/>
                </a:moveTo>
                <a:lnTo>
                  <a:pt x="339715" y="0"/>
                </a:lnTo>
                <a:cubicBezTo>
                  <a:pt x="402213" y="0"/>
                  <a:pt x="452954" y="50740"/>
                  <a:pt x="452954" y="113238"/>
                </a:cubicBezTo>
                <a:lnTo>
                  <a:pt x="452954" y="339715"/>
                </a:lnTo>
                <a:cubicBezTo>
                  <a:pt x="452954" y="402213"/>
                  <a:pt x="402213" y="452954"/>
                  <a:pt x="339715" y="452954"/>
                </a:cubicBezTo>
                <a:lnTo>
                  <a:pt x="113238" y="452954"/>
                </a:lnTo>
                <a:cubicBezTo>
                  <a:pt x="50740" y="452954"/>
                  <a:pt x="0" y="402213"/>
                  <a:pt x="0" y="339715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01889" y="1668382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56619" y="141548"/>
                </a:moveTo>
                <a:lnTo>
                  <a:pt x="10837" y="141548"/>
                </a:lnTo>
                <a:cubicBezTo>
                  <a:pt x="-177" y="141548"/>
                  <a:pt x="-6945" y="129561"/>
                  <a:pt x="-1283" y="120095"/>
                </a:cubicBezTo>
                <a:lnTo>
                  <a:pt x="22117" y="81080"/>
                </a:lnTo>
                <a:cubicBezTo>
                  <a:pt x="25965" y="74667"/>
                  <a:pt x="32866" y="70774"/>
                  <a:pt x="40341" y="70774"/>
                </a:cubicBezTo>
                <a:lnTo>
                  <a:pt x="82363" y="70774"/>
                </a:lnTo>
                <a:cubicBezTo>
                  <a:pt x="116025" y="13757"/>
                  <a:pt x="166230" y="10882"/>
                  <a:pt x="199804" y="15791"/>
                </a:cubicBezTo>
                <a:cubicBezTo>
                  <a:pt x="205466" y="16632"/>
                  <a:pt x="209889" y="21055"/>
                  <a:pt x="210685" y="26673"/>
                </a:cubicBezTo>
                <a:cubicBezTo>
                  <a:pt x="215595" y="60246"/>
                  <a:pt x="212720" y="110452"/>
                  <a:pt x="155703" y="144114"/>
                </a:cubicBezTo>
                <a:lnTo>
                  <a:pt x="155703" y="186136"/>
                </a:lnTo>
                <a:cubicBezTo>
                  <a:pt x="155703" y="193611"/>
                  <a:pt x="151810" y="200512"/>
                  <a:pt x="145396" y="204360"/>
                </a:cubicBezTo>
                <a:lnTo>
                  <a:pt x="106382" y="227760"/>
                </a:lnTo>
                <a:cubicBezTo>
                  <a:pt x="96960" y="233421"/>
                  <a:pt x="84929" y="226609"/>
                  <a:pt x="84929" y="215640"/>
                </a:cubicBezTo>
                <a:lnTo>
                  <a:pt x="84929" y="169858"/>
                </a:lnTo>
                <a:cubicBezTo>
                  <a:pt x="84929" y="154243"/>
                  <a:pt x="72234" y="141548"/>
                  <a:pt x="56619" y="141548"/>
                </a:cubicBezTo>
                <a:lnTo>
                  <a:pt x="56575" y="141548"/>
                </a:lnTo>
                <a:close/>
                <a:moveTo>
                  <a:pt x="176935" y="70774"/>
                </a:moveTo>
                <a:cubicBezTo>
                  <a:pt x="176935" y="59056"/>
                  <a:pt x="167421" y="49542"/>
                  <a:pt x="155703" y="49542"/>
                </a:cubicBezTo>
                <a:cubicBezTo>
                  <a:pt x="143984" y="49542"/>
                  <a:pt x="134471" y="59056"/>
                  <a:pt x="134471" y="70774"/>
                </a:cubicBezTo>
                <a:cubicBezTo>
                  <a:pt x="134471" y="82492"/>
                  <a:pt x="143984" y="92006"/>
                  <a:pt x="155703" y="92006"/>
                </a:cubicBezTo>
                <a:cubicBezTo>
                  <a:pt x="167421" y="92006"/>
                  <a:pt x="176935" y="82492"/>
                  <a:pt x="176935" y="7077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6954843" y="1630636"/>
            <a:ext cx="3604755" cy="3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 Opportunities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7524" y="2159081"/>
            <a:ext cx="5218402" cy="679430"/>
          </a:xfrm>
          <a:custGeom>
            <a:avLst/>
            <a:gdLst/>
            <a:ahLst/>
            <a:cxnLst/>
            <a:rect l="l" t="t" r="r" b="b"/>
            <a:pathLst>
              <a:path w="5218402" h="679430">
                <a:moveTo>
                  <a:pt x="37746" y="0"/>
                </a:moveTo>
                <a:lnTo>
                  <a:pt x="5142911" y="0"/>
                </a:lnTo>
                <a:cubicBezTo>
                  <a:pt x="5184604" y="0"/>
                  <a:pt x="5218402" y="33799"/>
                  <a:pt x="5218402" y="75492"/>
                </a:cubicBezTo>
                <a:lnTo>
                  <a:pt x="5218402" y="603939"/>
                </a:lnTo>
                <a:cubicBezTo>
                  <a:pt x="5218402" y="645632"/>
                  <a:pt x="5184604" y="679430"/>
                  <a:pt x="5142911" y="679430"/>
                </a:cubicBez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07524" y="2159081"/>
            <a:ext cx="37746" cy="679430"/>
          </a:xfrm>
          <a:custGeom>
            <a:avLst/>
            <a:gdLst/>
            <a:ahLst/>
            <a:cxnLst/>
            <a:rect l="l" t="t" r="r" b="b"/>
            <a:pathLst>
              <a:path w="37746" h="679430">
                <a:moveTo>
                  <a:pt x="37746" y="0"/>
                </a:moveTo>
                <a:lnTo>
                  <a:pt x="37746" y="0"/>
                </a:lnTo>
                <a:lnTo>
                  <a:pt x="37746" y="679430"/>
                </a:ln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6563226" y="2300629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39810" y="18578"/>
                </a:moveTo>
                <a:cubicBezTo>
                  <a:pt x="39810" y="8327"/>
                  <a:pt x="48137" y="0"/>
                  <a:pt x="58389" y="0"/>
                </a:cubicBezTo>
                <a:lnTo>
                  <a:pt x="66351" y="0"/>
                </a:lnTo>
                <a:cubicBezTo>
                  <a:pt x="72223" y="0"/>
                  <a:pt x="76967" y="4744"/>
                  <a:pt x="76967" y="10616"/>
                </a:cubicBezTo>
                <a:lnTo>
                  <a:pt x="76967" y="159241"/>
                </a:lnTo>
                <a:cubicBezTo>
                  <a:pt x="76967" y="165114"/>
                  <a:pt x="72223" y="169858"/>
                  <a:pt x="66351" y="169858"/>
                </a:cubicBezTo>
                <a:lnTo>
                  <a:pt x="55735" y="169858"/>
                </a:lnTo>
                <a:cubicBezTo>
                  <a:pt x="45848" y="169858"/>
                  <a:pt x="37521" y="163090"/>
                  <a:pt x="35166" y="153933"/>
                </a:cubicBezTo>
                <a:cubicBezTo>
                  <a:pt x="34934" y="153933"/>
                  <a:pt x="34735" y="153933"/>
                  <a:pt x="34502" y="153933"/>
                </a:cubicBezTo>
                <a:cubicBezTo>
                  <a:pt x="19839" y="153933"/>
                  <a:pt x="7962" y="142057"/>
                  <a:pt x="7962" y="127393"/>
                </a:cubicBezTo>
                <a:cubicBezTo>
                  <a:pt x="7962" y="121422"/>
                  <a:pt x="9953" y="115915"/>
                  <a:pt x="13270" y="111469"/>
                </a:cubicBezTo>
                <a:cubicBezTo>
                  <a:pt x="6834" y="106625"/>
                  <a:pt x="2654" y="98929"/>
                  <a:pt x="2654" y="90237"/>
                </a:cubicBezTo>
                <a:cubicBezTo>
                  <a:pt x="2654" y="79986"/>
                  <a:pt x="8493" y="71062"/>
                  <a:pt x="16986" y="66649"/>
                </a:cubicBezTo>
                <a:cubicBezTo>
                  <a:pt x="14630" y="62668"/>
                  <a:pt x="13270" y="58024"/>
                  <a:pt x="13270" y="53080"/>
                </a:cubicBezTo>
                <a:cubicBezTo>
                  <a:pt x="13270" y="38417"/>
                  <a:pt x="25147" y="26540"/>
                  <a:pt x="39810" y="26540"/>
                </a:cubicBezTo>
                <a:lnTo>
                  <a:pt x="39810" y="18578"/>
                </a:lnTo>
                <a:close/>
                <a:moveTo>
                  <a:pt x="130047" y="18578"/>
                </a:moveTo>
                <a:lnTo>
                  <a:pt x="130047" y="26540"/>
                </a:lnTo>
                <a:cubicBezTo>
                  <a:pt x="144711" y="26540"/>
                  <a:pt x="156587" y="38417"/>
                  <a:pt x="156587" y="53080"/>
                </a:cubicBezTo>
                <a:cubicBezTo>
                  <a:pt x="156587" y="58057"/>
                  <a:pt x="155227" y="62701"/>
                  <a:pt x="152872" y="66649"/>
                </a:cubicBezTo>
                <a:cubicBezTo>
                  <a:pt x="161398" y="71062"/>
                  <a:pt x="167204" y="79952"/>
                  <a:pt x="167204" y="90237"/>
                </a:cubicBezTo>
                <a:cubicBezTo>
                  <a:pt x="167204" y="98929"/>
                  <a:pt x="163023" y="106625"/>
                  <a:pt x="156587" y="111469"/>
                </a:cubicBezTo>
                <a:cubicBezTo>
                  <a:pt x="159905" y="115915"/>
                  <a:pt x="161896" y="121422"/>
                  <a:pt x="161896" y="127393"/>
                </a:cubicBezTo>
                <a:cubicBezTo>
                  <a:pt x="161896" y="142057"/>
                  <a:pt x="150019" y="153933"/>
                  <a:pt x="135355" y="153933"/>
                </a:cubicBezTo>
                <a:cubicBezTo>
                  <a:pt x="135123" y="153933"/>
                  <a:pt x="134924" y="153933"/>
                  <a:pt x="134692" y="153933"/>
                </a:cubicBezTo>
                <a:cubicBezTo>
                  <a:pt x="132336" y="163090"/>
                  <a:pt x="124009" y="169858"/>
                  <a:pt x="114123" y="169858"/>
                </a:cubicBezTo>
                <a:lnTo>
                  <a:pt x="103507" y="169858"/>
                </a:lnTo>
                <a:cubicBezTo>
                  <a:pt x="97635" y="169858"/>
                  <a:pt x="92891" y="165114"/>
                  <a:pt x="92891" y="159241"/>
                </a:cubicBezTo>
                <a:lnTo>
                  <a:pt x="92891" y="10616"/>
                </a:lnTo>
                <a:cubicBezTo>
                  <a:pt x="92891" y="4744"/>
                  <a:pt x="97635" y="0"/>
                  <a:pt x="103507" y="0"/>
                </a:cubicBezTo>
                <a:lnTo>
                  <a:pt x="111469" y="0"/>
                </a:lnTo>
                <a:cubicBezTo>
                  <a:pt x="121720" y="0"/>
                  <a:pt x="130047" y="8327"/>
                  <a:pt x="130047" y="1857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865195" y="2272320"/>
            <a:ext cx="165139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Demand Forecasting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39635" y="2536543"/>
            <a:ext cx="503910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Regression, Random Forest, LSTM models for future trip demand prediction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7524" y="2914004"/>
            <a:ext cx="5218402" cy="679430"/>
          </a:xfrm>
          <a:custGeom>
            <a:avLst/>
            <a:gdLst/>
            <a:ahLst/>
            <a:cxnLst/>
            <a:rect l="l" t="t" r="r" b="b"/>
            <a:pathLst>
              <a:path w="5218402" h="679430">
                <a:moveTo>
                  <a:pt x="37746" y="0"/>
                </a:moveTo>
                <a:lnTo>
                  <a:pt x="5142911" y="0"/>
                </a:lnTo>
                <a:cubicBezTo>
                  <a:pt x="5184604" y="0"/>
                  <a:pt x="5218402" y="33799"/>
                  <a:pt x="5218402" y="75492"/>
                </a:cubicBezTo>
                <a:lnTo>
                  <a:pt x="5218402" y="603939"/>
                </a:lnTo>
                <a:cubicBezTo>
                  <a:pt x="5218402" y="645632"/>
                  <a:pt x="5184604" y="679430"/>
                  <a:pt x="5142911" y="679430"/>
                </a:cubicBez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07524" y="2914004"/>
            <a:ext cx="37746" cy="679430"/>
          </a:xfrm>
          <a:custGeom>
            <a:avLst/>
            <a:gdLst/>
            <a:ahLst/>
            <a:cxnLst/>
            <a:rect l="l" t="t" r="r" b="b"/>
            <a:pathLst>
              <a:path w="37746" h="679430">
                <a:moveTo>
                  <a:pt x="37746" y="0"/>
                </a:moveTo>
                <a:lnTo>
                  <a:pt x="37746" y="0"/>
                </a:lnTo>
                <a:lnTo>
                  <a:pt x="37746" y="679430"/>
                </a:ln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5" name="Shape 33"/>
          <p:cNvSpPr/>
          <p:nvPr/>
        </p:nvSpPr>
        <p:spPr>
          <a:xfrm>
            <a:off x="6573843" y="3055552"/>
            <a:ext cx="148625" cy="169858"/>
          </a:xfrm>
          <a:custGeom>
            <a:avLst/>
            <a:gdLst/>
            <a:ahLst/>
            <a:cxnLst/>
            <a:rect l="l" t="t" r="r" b="b"/>
            <a:pathLst>
              <a:path w="148625" h="169858">
                <a:moveTo>
                  <a:pt x="112398" y="-3284"/>
                </a:moveTo>
                <a:cubicBezTo>
                  <a:pt x="116346" y="-431"/>
                  <a:pt x="117806" y="4744"/>
                  <a:pt x="116014" y="9256"/>
                </a:cubicBezTo>
                <a:lnTo>
                  <a:pt x="90005" y="74313"/>
                </a:lnTo>
                <a:lnTo>
                  <a:pt x="138009" y="74313"/>
                </a:lnTo>
                <a:cubicBezTo>
                  <a:pt x="142488" y="74313"/>
                  <a:pt x="146469" y="77099"/>
                  <a:pt x="147995" y="81313"/>
                </a:cubicBezTo>
                <a:cubicBezTo>
                  <a:pt x="149521" y="85526"/>
                  <a:pt x="148227" y="90237"/>
                  <a:pt x="144810" y="93090"/>
                </a:cubicBezTo>
                <a:lnTo>
                  <a:pt x="49265" y="172711"/>
                </a:lnTo>
                <a:cubicBezTo>
                  <a:pt x="45517" y="175829"/>
                  <a:pt x="40175" y="175995"/>
                  <a:pt x="36227" y="173142"/>
                </a:cubicBezTo>
                <a:cubicBezTo>
                  <a:pt x="32280" y="170289"/>
                  <a:pt x="30820" y="165114"/>
                  <a:pt x="32611" y="160602"/>
                </a:cubicBezTo>
                <a:lnTo>
                  <a:pt x="58621" y="95545"/>
                </a:lnTo>
                <a:lnTo>
                  <a:pt x="10616" y="95545"/>
                </a:lnTo>
                <a:cubicBezTo>
                  <a:pt x="6137" y="95545"/>
                  <a:pt x="2156" y="92758"/>
                  <a:pt x="630" y="88545"/>
                </a:cubicBezTo>
                <a:cubicBezTo>
                  <a:pt x="-896" y="84332"/>
                  <a:pt x="398" y="79621"/>
                  <a:pt x="3815" y="76768"/>
                </a:cubicBezTo>
                <a:lnTo>
                  <a:pt x="99360" y="-2853"/>
                </a:lnTo>
                <a:cubicBezTo>
                  <a:pt x="103109" y="-5972"/>
                  <a:pt x="108450" y="-6137"/>
                  <a:pt x="112398" y="-3284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6865195" y="3027242"/>
            <a:ext cx="149097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Integration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9635" y="3291465"/>
            <a:ext cx="503910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APIs and cloud databases for real-time trip tracking and KPI monitoring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7524" y="3668922"/>
            <a:ext cx="5218402" cy="679430"/>
          </a:xfrm>
          <a:custGeom>
            <a:avLst/>
            <a:gdLst/>
            <a:ahLst/>
            <a:cxnLst/>
            <a:rect l="l" t="t" r="r" b="b"/>
            <a:pathLst>
              <a:path w="5218402" h="679430">
                <a:moveTo>
                  <a:pt x="37746" y="0"/>
                </a:moveTo>
                <a:lnTo>
                  <a:pt x="5142911" y="0"/>
                </a:lnTo>
                <a:cubicBezTo>
                  <a:pt x="5184604" y="0"/>
                  <a:pt x="5218402" y="33799"/>
                  <a:pt x="5218402" y="75492"/>
                </a:cubicBezTo>
                <a:lnTo>
                  <a:pt x="5218402" y="603939"/>
                </a:lnTo>
                <a:cubicBezTo>
                  <a:pt x="5218402" y="645632"/>
                  <a:pt x="5184604" y="679430"/>
                  <a:pt x="5142911" y="679430"/>
                </a:cubicBez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07524" y="3668922"/>
            <a:ext cx="37746" cy="679430"/>
          </a:xfrm>
          <a:custGeom>
            <a:avLst/>
            <a:gdLst/>
            <a:ahLst/>
            <a:cxnLst/>
            <a:rect l="l" t="t" r="r" b="b"/>
            <a:pathLst>
              <a:path w="37746" h="679430">
                <a:moveTo>
                  <a:pt x="37746" y="0"/>
                </a:moveTo>
                <a:lnTo>
                  <a:pt x="37746" y="0"/>
                </a:lnTo>
                <a:lnTo>
                  <a:pt x="37746" y="679430"/>
                </a:ln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6552610" y="3810470"/>
            <a:ext cx="191090" cy="169858"/>
          </a:xfrm>
          <a:custGeom>
            <a:avLst/>
            <a:gdLst/>
            <a:ahLst/>
            <a:cxnLst/>
            <a:rect l="l" t="t" r="r" b="b"/>
            <a:pathLst>
              <a:path w="191090" h="169858">
                <a:moveTo>
                  <a:pt x="102678" y="-6270"/>
                </a:moveTo>
                <a:cubicBezTo>
                  <a:pt x="101317" y="-8924"/>
                  <a:pt x="98564" y="-10616"/>
                  <a:pt x="95578" y="-10616"/>
                </a:cubicBezTo>
                <a:cubicBezTo>
                  <a:pt x="92592" y="-10616"/>
                  <a:pt x="89839" y="-8924"/>
                  <a:pt x="88479" y="-6270"/>
                </a:cubicBezTo>
                <a:lnTo>
                  <a:pt x="64062" y="41569"/>
                </a:lnTo>
                <a:lnTo>
                  <a:pt x="11014" y="49995"/>
                </a:lnTo>
                <a:cubicBezTo>
                  <a:pt x="8062" y="50460"/>
                  <a:pt x="5607" y="52550"/>
                  <a:pt x="4678" y="55403"/>
                </a:cubicBezTo>
                <a:cubicBezTo>
                  <a:pt x="3749" y="58256"/>
                  <a:pt x="4512" y="61374"/>
                  <a:pt x="6602" y="63498"/>
                </a:cubicBezTo>
                <a:lnTo>
                  <a:pt x="44554" y="101483"/>
                </a:lnTo>
                <a:lnTo>
                  <a:pt x="36194" y="154531"/>
                </a:lnTo>
                <a:cubicBezTo>
                  <a:pt x="35730" y="157483"/>
                  <a:pt x="36957" y="160469"/>
                  <a:pt x="39379" y="162227"/>
                </a:cubicBezTo>
                <a:cubicBezTo>
                  <a:pt x="41801" y="163986"/>
                  <a:pt x="44986" y="164251"/>
                  <a:pt x="47673" y="162891"/>
                </a:cubicBezTo>
                <a:lnTo>
                  <a:pt x="95578" y="138540"/>
                </a:lnTo>
                <a:lnTo>
                  <a:pt x="143450" y="162891"/>
                </a:lnTo>
                <a:cubicBezTo>
                  <a:pt x="146104" y="164251"/>
                  <a:pt x="149322" y="163986"/>
                  <a:pt x="151744" y="162227"/>
                </a:cubicBezTo>
                <a:cubicBezTo>
                  <a:pt x="154166" y="160469"/>
                  <a:pt x="155393" y="157516"/>
                  <a:pt x="154929" y="154531"/>
                </a:cubicBezTo>
                <a:lnTo>
                  <a:pt x="146535" y="101483"/>
                </a:lnTo>
                <a:lnTo>
                  <a:pt x="184488" y="63498"/>
                </a:lnTo>
                <a:cubicBezTo>
                  <a:pt x="186611" y="61374"/>
                  <a:pt x="187341" y="58256"/>
                  <a:pt x="186412" y="55403"/>
                </a:cubicBezTo>
                <a:cubicBezTo>
                  <a:pt x="185483" y="52550"/>
                  <a:pt x="183061" y="50460"/>
                  <a:pt x="180076" y="49995"/>
                </a:cubicBezTo>
                <a:lnTo>
                  <a:pt x="127061" y="41569"/>
                </a:lnTo>
                <a:lnTo>
                  <a:pt x="102678" y="-627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865195" y="3782160"/>
            <a:ext cx="1764632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Performance Score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9635" y="4046383"/>
            <a:ext cx="503910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model based on completion rate, cancellation rate, and trip duration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7524" y="4423845"/>
            <a:ext cx="5218402" cy="679430"/>
          </a:xfrm>
          <a:custGeom>
            <a:avLst/>
            <a:gdLst/>
            <a:ahLst/>
            <a:cxnLst/>
            <a:rect l="l" t="t" r="r" b="b"/>
            <a:pathLst>
              <a:path w="5218402" h="679430">
                <a:moveTo>
                  <a:pt x="37746" y="0"/>
                </a:moveTo>
                <a:lnTo>
                  <a:pt x="5142911" y="0"/>
                </a:lnTo>
                <a:cubicBezTo>
                  <a:pt x="5184604" y="0"/>
                  <a:pt x="5218402" y="33799"/>
                  <a:pt x="5218402" y="75492"/>
                </a:cubicBezTo>
                <a:lnTo>
                  <a:pt x="5218402" y="603939"/>
                </a:lnTo>
                <a:cubicBezTo>
                  <a:pt x="5218402" y="645632"/>
                  <a:pt x="5184604" y="679430"/>
                  <a:pt x="5142911" y="679430"/>
                </a:cubicBez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07524" y="4423845"/>
            <a:ext cx="37746" cy="679430"/>
          </a:xfrm>
          <a:custGeom>
            <a:avLst/>
            <a:gdLst/>
            <a:ahLst/>
            <a:cxnLst/>
            <a:rect l="l" t="t" r="r" b="b"/>
            <a:pathLst>
              <a:path w="37746" h="679430">
                <a:moveTo>
                  <a:pt x="37746" y="0"/>
                </a:moveTo>
                <a:lnTo>
                  <a:pt x="37746" y="0"/>
                </a:lnTo>
                <a:lnTo>
                  <a:pt x="37746" y="679430"/>
                </a:ln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5" name="Shape 43"/>
          <p:cNvSpPr/>
          <p:nvPr/>
        </p:nvSpPr>
        <p:spPr>
          <a:xfrm>
            <a:off x="6595075" y="4565393"/>
            <a:ext cx="106161" cy="169858"/>
          </a:xfrm>
          <a:custGeom>
            <a:avLst/>
            <a:gdLst/>
            <a:ahLst/>
            <a:cxnLst/>
            <a:rect l="l" t="t" r="r" b="b"/>
            <a:pathLst>
              <a:path w="106161" h="169858">
                <a:moveTo>
                  <a:pt x="45118" y="7962"/>
                </a:moveTo>
                <a:cubicBezTo>
                  <a:pt x="45118" y="3550"/>
                  <a:pt x="48668" y="0"/>
                  <a:pt x="53080" y="0"/>
                </a:cubicBezTo>
                <a:cubicBezTo>
                  <a:pt x="57493" y="0"/>
                  <a:pt x="61043" y="3550"/>
                  <a:pt x="61043" y="7962"/>
                </a:cubicBezTo>
                <a:lnTo>
                  <a:pt x="61043" y="21232"/>
                </a:lnTo>
                <a:lnTo>
                  <a:pt x="79621" y="21232"/>
                </a:lnTo>
                <a:cubicBezTo>
                  <a:pt x="85493" y="21232"/>
                  <a:pt x="90237" y="25976"/>
                  <a:pt x="90237" y="31848"/>
                </a:cubicBezTo>
                <a:cubicBezTo>
                  <a:pt x="90237" y="37720"/>
                  <a:pt x="85493" y="42464"/>
                  <a:pt x="79621" y="42464"/>
                </a:cubicBezTo>
                <a:lnTo>
                  <a:pt x="41502" y="42464"/>
                </a:lnTo>
                <a:cubicBezTo>
                  <a:pt x="33242" y="42464"/>
                  <a:pt x="26540" y="49166"/>
                  <a:pt x="26540" y="57426"/>
                </a:cubicBezTo>
                <a:cubicBezTo>
                  <a:pt x="26540" y="64891"/>
                  <a:pt x="32014" y="71194"/>
                  <a:pt x="39379" y="72256"/>
                </a:cubicBezTo>
                <a:lnTo>
                  <a:pt x="69768" y="76602"/>
                </a:lnTo>
                <a:cubicBezTo>
                  <a:pt x="87616" y="79156"/>
                  <a:pt x="100853" y="94417"/>
                  <a:pt x="100853" y="112431"/>
                </a:cubicBezTo>
                <a:cubicBezTo>
                  <a:pt x="100853" y="132436"/>
                  <a:pt x="84630" y="148625"/>
                  <a:pt x="64659" y="148625"/>
                </a:cubicBezTo>
                <a:lnTo>
                  <a:pt x="61043" y="148625"/>
                </a:lnTo>
                <a:lnTo>
                  <a:pt x="61043" y="161896"/>
                </a:lnTo>
                <a:cubicBezTo>
                  <a:pt x="61043" y="166308"/>
                  <a:pt x="57493" y="169858"/>
                  <a:pt x="53080" y="169858"/>
                </a:cubicBezTo>
                <a:cubicBezTo>
                  <a:pt x="48668" y="169858"/>
                  <a:pt x="45118" y="166308"/>
                  <a:pt x="45118" y="161896"/>
                </a:cubicBezTo>
                <a:lnTo>
                  <a:pt x="45118" y="148625"/>
                </a:lnTo>
                <a:lnTo>
                  <a:pt x="21232" y="148625"/>
                </a:lnTo>
                <a:cubicBezTo>
                  <a:pt x="15360" y="148625"/>
                  <a:pt x="10616" y="143881"/>
                  <a:pt x="10616" y="138009"/>
                </a:cubicBezTo>
                <a:cubicBezTo>
                  <a:pt x="10616" y="132137"/>
                  <a:pt x="15360" y="127393"/>
                  <a:pt x="21232" y="127393"/>
                </a:cubicBezTo>
                <a:lnTo>
                  <a:pt x="64659" y="127393"/>
                </a:lnTo>
                <a:cubicBezTo>
                  <a:pt x="72919" y="127393"/>
                  <a:pt x="79621" y="120692"/>
                  <a:pt x="79621" y="112431"/>
                </a:cubicBezTo>
                <a:cubicBezTo>
                  <a:pt x="79621" y="104967"/>
                  <a:pt x="74147" y="98663"/>
                  <a:pt x="66782" y="97602"/>
                </a:cubicBezTo>
                <a:lnTo>
                  <a:pt x="36393" y="93256"/>
                </a:lnTo>
                <a:cubicBezTo>
                  <a:pt x="18545" y="90734"/>
                  <a:pt x="5308" y="75441"/>
                  <a:pt x="5308" y="57426"/>
                </a:cubicBezTo>
                <a:cubicBezTo>
                  <a:pt x="5308" y="37455"/>
                  <a:pt x="21531" y="21232"/>
                  <a:pt x="41502" y="21232"/>
                </a:cubicBezTo>
                <a:lnTo>
                  <a:pt x="45118" y="21232"/>
                </a:lnTo>
                <a:lnTo>
                  <a:pt x="45118" y="7962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6" name="Text 44"/>
          <p:cNvSpPr/>
          <p:nvPr/>
        </p:nvSpPr>
        <p:spPr>
          <a:xfrm>
            <a:off x="6865195" y="4537083"/>
            <a:ext cx="179294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Surge Pricing Optimization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39635" y="4801306"/>
            <a:ext cx="503910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fare adjustment during peak hours based on demand-supply analysis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7524" y="5178767"/>
            <a:ext cx="5218402" cy="679430"/>
          </a:xfrm>
          <a:custGeom>
            <a:avLst/>
            <a:gdLst/>
            <a:ahLst/>
            <a:cxnLst/>
            <a:rect l="l" t="t" r="r" b="b"/>
            <a:pathLst>
              <a:path w="5218402" h="679430">
                <a:moveTo>
                  <a:pt x="37746" y="0"/>
                </a:moveTo>
                <a:lnTo>
                  <a:pt x="5142911" y="0"/>
                </a:lnTo>
                <a:cubicBezTo>
                  <a:pt x="5184604" y="0"/>
                  <a:pt x="5218402" y="33799"/>
                  <a:pt x="5218402" y="75492"/>
                </a:cubicBezTo>
                <a:lnTo>
                  <a:pt x="5218402" y="603939"/>
                </a:lnTo>
                <a:cubicBezTo>
                  <a:pt x="5218402" y="645632"/>
                  <a:pt x="5184604" y="679430"/>
                  <a:pt x="5142911" y="679430"/>
                </a:cubicBez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07524" y="5178767"/>
            <a:ext cx="37746" cy="679430"/>
          </a:xfrm>
          <a:custGeom>
            <a:avLst/>
            <a:gdLst/>
            <a:ahLst/>
            <a:cxnLst/>
            <a:rect l="l" t="t" r="r" b="b"/>
            <a:pathLst>
              <a:path w="37746" h="679430">
                <a:moveTo>
                  <a:pt x="37746" y="0"/>
                </a:moveTo>
                <a:lnTo>
                  <a:pt x="37746" y="0"/>
                </a:lnTo>
                <a:lnTo>
                  <a:pt x="37746" y="679430"/>
                </a:lnTo>
                <a:lnTo>
                  <a:pt x="37746" y="679430"/>
                </a:lnTo>
                <a:cubicBezTo>
                  <a:pt x="16913" y="679430"/>
                  <a:pt x="0" y="662517"/>
                  <a:pt x="0" y="641684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6573843" y="5320315"/>
            <a:ext cx="148625" cy="169858"/>
          </a:xfrm>
          <a:custGeom>
            <a:avLst/>
            <a:gdLst/>
            <a:ahLst/>
            <a:cxnLst/>
            <a:rect l="l" t="t" r="r" b="b"/>
            <a:pathLst>
              <a:path w="148625" h="169858">
                <a:moveTo>
                  <a:pt x="42464" y="0"/>
                </a:moveTo>
                <a:cubicBezTo>
                  <a:pt x="48336" y="0"/>
                  <a:pt x="53080" y="4744"/>
                  <a:pt x="53080" y="10616"/>
                </a:cubicBezTo>
                <a:lnTo>
                  <a:pt x="53080" y="21232"/>
                </a:lnTo>
                <a:lnTo>
                  <a:pt x="95545" y="21232"/>
                </a:lnTo>
                <a:lnTo>
                  <a:pt x="95545" y="10616"/>
                </a:lnTo>
                <a:cubicBezTo>
                  <a:pt x="95545" y="4744"/>
                  <a:pt x="100289" y="0"/>
                  <a:pt x="106161" y="0"/>
                </a:cubicBezTo>
                <a:cubicBezTo>
                  <a:pt x="112033" y="0"/>
                  <a:pt x="116777" y="4744"/>
                  <a:pt x="116777" y="10616"/>
                </a:cubicBezTo>
                <a:lnTo>
                  <a:pt x="116777" y="21232"/>
                </a:lnTo>
                <a:lnTo>
                  <a:pt x="127393" y="21232"/>
                </a:lnTo>
                <a:cubicBezTo>
                  <a:pt x="139104" y="21232"/>
                  <a:pt x="148625" y="30754"/>
                  <a:pt x="148625" y="42464"/>
                </a:cubicBezTo>
                <a:lnTo>
                  <a:pt x="148625" y="138009"/>
                </a:lnTo>
                <a:cubicBezTo>
                  <a:pt x="148625" y="149720"/>
                  <a:pt x="139104" y="159241"/>
                  <a:pt x="127393" y="159241"/>
                </a:cubicBezTo>
                <a:lnTo>
                  <a:pt x="21232" y="159241"/>
                </a:lnTo>
                <a:cubicBezTo>
                  <a:pt x="9521" y="159241"/>
                  <a:pt x="0" y="149720"/>
                  <a:pt x="0" y="138009"/>
                </a:cubicBezTo>
                <a:lnTo>
                  <a:pt x="0" y="42464"/>
                </a:lnTo>
                <a:cubicBezTo>
                  <a:pt x="0" y="30754"/>
                  <a:pt x="9521" y="21232"/>
                  <a:pt x="21232" y="21232"/>
                </a:cubicBezTo>
                <a:lnTo>
                  <a:pt x="31848" y="21232"/>
                </a:lnTo>
                <a:lnTo>
                  <a:pt x="31848" y="10616"/>
                </a:lnTo>
                <a:cubicBezTo>
                  <a:pt x="31848" y="4744"/>
                  <a:pt x="36592" y="0"/>
                  <a:pt x="42464" y="0"/>
                </a:cubicBezTo>
                <a:close/>
                <a:moveTo>
                  <a:pt x="21232" y="79621"/>
                </a:moveTo>
                <a:lnTo>
                  <a:pt x="21232" y="90237"/>
                </a:lnTo>
                <a:cubicBezTo>
                  <a:pt x="21232" y="93156"/>
                  <a:pt x="23621" y="95545"/>
                  <a:pt x="26540" y="95545"/>
                </a:cubicBezTo>
                <a:lnTo>
                  <a:pt x="37156" y="95545"/>
                </a:lnTo>
                <a:cubicBezTo>
                  <a:pt x="40076" y="95545"/>
                  <a:pt x="42464" y="93156"/>
                  <a:pt x="42464" y="90237"/>
                </a:cubicBezTo>
                <a:lnTo>
                  <a:pt x="42464" y="79621"/>
                </a:lnTo>
                <a:cubicBezTo>
                  <a:pt x="42464" y="76701"/>
                  <a:pt x="40076" y="74313"/>
                  <a:pt x="37156" y="74313"/>
                </a:cubicBezTo>
                <a:lnTo>
                  <a:pt x="26540" y="74313"/>
                </a:lnTo>
                <a:cubicBezTo>
                  <a:pt x="23621" y="74313"/>
                  <a:pt x="21232" y="76701"/>
                  <a:pt x="21232" y="79621"/>
                </a:cubicBezTo>
                <a:close/>
                <a:moveTo>
                  <a:pt x="63697" y="79621"/>
                </a:moveTo>
                <a:lnTo>
                  <a:pt x="63697" y="90237"/>
                </a:lnTo>
                <a:cubicBezTo>
                  <a:pt x="63697" y="93156"/>
                  <a:pt x="66085" y="95545"/>
                  <a:pt x="69005" y="95545"/>
                </a:cubicBezTo>
                <a:lnTo>
                  <a:pt x="79621" y="95545"/>
                </a:lnTo>
                <a:cubicBezTo>
                  <a:pt x="82540" y="95545"/>
                  <a:pt x="84929" y="93156"/>
                  <a:pt x="84929" y="90237"/>
                </a:cubicBezTo>
                <a:lnTo>
                  <a:pt x="84929" y="79621"/>
                </a:lnTo>
                <a:cubicBezTo>
                  <a:pt x="84929" y="76701"/>
                  <a:pt x="82540" y="74313"/>
                  <a:pt x="79621" y="74313"/>
                </a:cubicBezTo>
                <a:lnTo>
                  <a:pt x="69005" y="74313"/>
                </a:lnTo>
                <a:cubicBezTo>
                  <a:pt x="66085" y="74313"/>
                  <a:pt x="63697" y="76701"/>
                  <a:pt x="63697" y="79621"/>
                </a:cubicBezTo>
                <a:close/>
                <a:moveTo>
                  <a:pt x="111469" y="74313"/>
                </a:moveTo>
                <a:cubicBezTo>
                  <a:pt x="108550" y="74313"/>
                  <a:pt x="106161" y="76701"/>
                  <a:pt x="106161" y="79621"/>
                </a:cubicBezTo>
                <a:lnTo>
                  <a:pt x="106161" y="90237"/>
                </a:lnTo>
                <a:cubicBezTo>
                  <a:pt x="106161" y="93156"/>
                  <a:pt x="108550" y="95545"/>
                  <a:pt x="111469" y="95545"/>
                </a:cubicBezTo>
                <a:lnTo>
                  <a:pt x="122085" y="95545"/>
                </a:lnTo>
                <a:cubicBezTo>
                  <a:pt x="125005" y="95545"/>
                  <a:pt x="127393" y="93156"/>
                  <a:pt x="127393" y="90237"/>
                </a:cubicBezTo>
                <a:lnTo>
                  <a:pt x="127393" y="79621"/>
                </a:lnTo>
                <a:cubicBezTo>
                  <a:pt x="127393" y="76701"/>
                  <a:pt x="125005" y="74313"/>
                  <a:pt x="122085" y="74313"/>
                </a:cubicBezTo>
                <a:lnTo>
                  <a:pt x="111469" y="74313"/>
                </a:lnTo>
                <a:close/>
                <a:moveTo>
                  <a:pt x="21232" y="122085"/>
                </a:moveTo>
                <a:lnTo>
                  <a:pt x="21232" y="132701"/>
                </a:lnTo>
                <a:cubicBezTo>
                  <a:pt x="21232" y="135621"/>
                  <a:pt x="23621" y="138009"/>
                  <a:pt x="26540" y="138009"/>
                </a:cubicBezTo>
                <a:lnTo>
                  <a:pt x="37156" y="138009"/>
                </a:lnTo>
                <a:cubicBezTo>
                  <a:pt x="40076" y="138009"/>
                  <a:pt x="42464" y="135621"/>
                  <a:pt x="42464" y="132701"/>
                </a:cubicBezTo>
                <a:lnTo>
                  <a:pt x="42464" y="122085"/>
                </a:lnTo>
                <a:cubicBezTo>
                  <a:pt x="42464" y="119166"/>
                  <a:pt x="40076" y="116777"/>
                  <a:pt x="37156" y="116777"/>
                </a:cubicBezTo>
                <a:lnTo>
                  <a:pt x="26540" y="116777"/>
                </a:lnTo>
                <a:cubicBezTo>
                  <a:pt x="23621" y="116777"/>
                  <a:pt x="21232" y="119166"/>
                  <a:pt x="21232" y="122085"/>
                </a:cubicBezTo>
                <a:close/>
                <a:moveTo>
                  <a:pt x="69005" y="116777"/>
                </a:moveTo>
                <a:cubicBezTo>
                  <a:pt x="66085" y="116777"/>
                  <a:pt x="63697" y="119166"/>
                  <a:pt x="63697" y="122085"/>
                </a:cubicBezTo>
                <a:lnTo>
                  <a:pt x="63697" y="132701"/>
                </a:lnTo>
                <a:cubicBezTo>
                  <a:pt x="63697" y="135621"/>
                  <a:pt x="66085" y="138009"/>
                  <a:pt x="69005" y="138009"/>
                </a:cubicBezTo>
                <a:lnTo>
                  <a:pt x="79621" y="138009"/>
                </a:lnTo>
                <a:cubicBezTo>
                  <a:pt x="82540" y="138009"/>
                  <a:pt x="84929" y="135621"/>
                  <a:pt x="84929" y="132701"/>
                </a:cubicBezTo>
                <a:lnTo>
                  <a:pt x="84929" y="122085"/>
                </a:lnTo>
                <a:cubicBezTo>
                  <a:pt x="84929" y="119166"/>
                  <a:pt x="82540" y="116777"/>
                  <a:pt x="79621" y="116777"/>
                </a:cubicBezTo>
                <a:lnTo>
                  <a:pt x="69005" y="116777"/>
                </a:lnTo>
                <a:close/>
                <a:moveTo>
                  <a:pt x="106161" y="122085"/>
                </a:moveTo>
                <a:lnTo>
                  <a:pt x="106161" y="132701"/>
                </a:lnTo>
                <a:cubicBezTo>
                  <a:pt x="106161" y="135621"/>
                  <a:pt x="108550" y="138009"/>
                  <a:pt x="111469" y="138009"/>
                </a:cubicBezTo>
                <a:lnTo>
                  <a:pt x="122085" y="138009"/>
                </a:lnTo>
                <a:cubicBezTo>
                  <a:pt x="125005" y="138009"/>
                  <a:pt x="127393" y="135621"/>
                  <a:pt x="127393" y="132701"/>
                </a:cubicBezTo>
                <a:lnTo>
                  <a:pt x="127393" y="122085"/>
                </a:lnTo>
                <a:cubicBezTo>
                  <a:pt x="127393" y="119166"/>
                  <a:pt x="125005" y="116777"/>
                  <a:pt x="122085" y="116777"/>
                </a:cubicBezTo>
                <a:lnTo>
                  <a:pt x="111469" y="116777"/>
                </a:lnTo>
                <a:cubicBezTo>
                  <a:pt x="108550" y="116777"/>
                  <a:pt x="106161" y="119166"/>
                  <a:pt x="106161" y="12208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6865195" y="5292006"/>
            <a:ext cx="1339988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Multi-Year Analysis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39635" y="5556228"/>
            <a:ext cx="503910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performance across cities and seasonal trend analysis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236" y="6171498"/>
            <a:ext cx="11435190" cy="686980"/>
          </a:xfrm>
          <a:custGeom>
            <a:avLst/>
            <a:gdLst/>
            <a:ahLst/>
            <a:cxnLst/>
            <a:rect l="l" t="t" r="r" b="b"/>
            <a:pathLst>
              <a:path w="11435190" h="686980">
                <a:moveTo>
                  <a:pt x="113242" y="0"/>
                </a:moveTo>
                <a:lnTo>
                  <a:pt x="11321948" y="0"/>
                </a:lnTo>
                <a:cubicBezTo>
                  <a:pt x="11384490" y="0"/>
                  <a:pt x="11435190" y="50700"/>
                  <a:pt x="11435190" y="113242"/>
                </a:cubicBezTo>
                <a:lnTo>
                  <a:pt x="11435190" y="573738"/>
                </a:lnTo>
                <a:cubicBezTo>
                  <a:pt x="11435190" y="636280"/>
                  <a:pt x="11384490" y="686980"/>
                  <a:pt x="11321948" y="686980"/>
                </a:cubicBezTo>
                <a:lnTo>
                  <a:pt x="113242" y="686980"/>
                </a:lnTo>
                <a:cubicBezTo>
                  <a:pt x="50700" y="686980"/>
                  <a:pt x="0" y="636280"/>
                  <a:pt x="0" y="573738"/>
                </a:cubicBezTo>
                <a:lnTo>
                  <a:pt x="0" y="113242"/>
                </a:lnTo>
                <a:cubicBezTo>
                  <a:pt x="0" y="50742"/>
                  <a:pt x="50742" y="0"/>
                  <a:pt x="11324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6559" y="6401747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56619" y="141548"/>
                </a:moveTo>
                <a:lnTo>
                  <a:pt x="10837" y="141548"/>
                </a:lnTo>
                <a:cubicBezTo>
                  <a:pt x="-177" y="141548"/>
                  <a:pt x="-6945" y="129561"/>
                  <a:pt x="-1283" y="120095"/>
                </a:cubicBezTo>
                <a:lnTo>
                  <a:pt x="22117" y="81080"/>
                </a:lnTo>
                <a:cubicBezTo>
                  <a:pt x="25965" y="74667"/>
                  <a:pt x="32866" y="70774"/>
                  <a:pt x="40341" y="70774"/>
                </a:cubicBezTo>
                <a:lnTo>
                  <a:pt x="82363" y="70774"/>
                </a:lnTo>
                <a:cubicBezTo>
                  <a:pt x="116025" y="13757"/>
                  <a:pt x="166230" y="10882"/>
                  <a:pt x="199804" y="15791"/>
                </a:cubicBezTo>
                <a:cubicBezTo>
                  <a:pt x="205466" y="16632"/>
                  <a:pt x="209889" y="21055"/>
                  <a:pt x="210685" y="26673"/>
                </a:cubicBezTo>
                <a:cubicBezTo>
                  <a:pt x="215595" y="60246"/>
                  <a:pt x="212720" y="110452"/>
                  <a:pt x="155703" y="144114"/>
                </a:cubicBezTo>
                <a:lnTo>
                  <a:pt x="155703" y="186136"/>
                </a:lnTo>
                <a:cubicBezTo>
                  <a:pt x="155703" y="193611"/>
                  <a:pt x="151810" y="200512"/>
                  <a:pt x="145396" y="204360"/>
                </a:cubicBezTo>
                <a:lnTo>
                  <a:pt x="106382" y="227760"/>
                </a:lnTo>
                <a:cubicBezTo>
                  <a:pt x="96960" y="233421"/>
                  <a:pt x="84929" y="226609"/>
                  <a:pt x="84929" y="215640"/>
                </a:cubicBezTo>
                <a:lnTo>
                  <a:pt x="84929" y="169858"/>
                </a:lnTo>
                <a:cubicBezTo>
                  <a:pt x="84929" y="154243"/>
                  <a:pt x="72234" y="141548"/>
                  <a:pt x="56619" y="141548"/>
                </a:cubicBezTo>
                <a:lnTo>
                  <a:pt x="56575" y="141548"/>
                </a:lnTo>
                <a:close/>
                <a:moveTo>
                  <a:pt x="176935" y="70774"/>
                </a:moveTo>
                <a:cubicBezTo>
                  <a:pt x="176935" y="59056"/>
                  <a:pt x="167421" y="49542"/>
                  <a:pt x="155703" y="49542"/>
                </a:cubicBezTo>
                <a:cubicBezTo>
                  <a:pt x="143984" y="49542"/>
                  <a:pt x="134471" y="59056"/>
                  <a:pt x="134471" y="70774"/>
                </a:cubicBezTo>
                <a:cubicBezTo>
                  <a:pt x="134471" y="82492"/>
                  <a:pt x="143984" y="92006"/>
                  <a:pt x="155703" y="92006"/>
                </a:cubicBezTo>
                <a:cubicBezTo>
                  <a:pt x="167421" y="92006"/>
                  <a:pt x="176935" y="82492"/>
                  <a:pt x="176935" y="7077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Text 53"/>
          <p:cNvSpPr/>
          <p:nvPr/>
        </p:nvSpPr>
        <p:spPr>
          <a:xfrm>
            <a:off x="932329" y="6401747"/>
            <a:ext cx="638853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Vision:</a:t>
            </a:r>
            <a:pPr>
              <a:lnSpc>
                <a:spcPct val="120000"/>
              </a:lnSpc>
            </a:pPr>
            <a:r>
              <a:rPr lang="en-US" sz="118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AI-powered recommendation systems and mobile deployment for anytime access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144155" y="6288509"/>
            <a:ext cx="877598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6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158310" y="6552732"/>
            <a:ext cx="84928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56577" y="6288509"/>
            <a:ext cx="585065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6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∞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170731" y="6552732"/>
            <a:ext cx="556755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6367857a5e55f54c8a8646fa62301ecb012736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66" b="7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681" y="33158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Shape 2"/>
          <p:cNvSpPr/>
          <p:nvPr/>
        </p:nvSpPr>
        <p:spPr>
          <a:xfrm>
            <a:off x="5867281" y="56018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Text 3"/>
          <p:cNvSpPr/>
          <p:nvPr/>
        </p:nvSpPr>
        <p:spPr>
          <a:xfrm>
            <a:off x="4590574" y="1474589"/>
            <a:ext cx="3009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281" y="2198489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4676299" y="2484239"/>
            <a:ext cx="2838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39885" y="3097528"/>
            <a:ext cx="4512945" cy="2893695"/>
          </a:xfrm>
          <a:custGeom>
            <a:avLst/>
            <a:gdLst/>
            <a:ahLst/>
            <a:cxnLst/>
            <a:rect l="l" t="t" r="r" b="b"/>
            <a:pathLst>
              <a:path w="4512945" h="2893695">
                <a:moveTo>
                  <a:pt x="152411" y="0"/>
                </a:moveTo>
                <a:lnTo>
                  <a:pt x="4360534" y="0"/>
                </a:lnTo>
                <a:cubicBezTo>
                  <a:pt x="4444708" y="0"/>
                  <a:pt x="4512945" y="68237"/>
                  <a:pt x="4512945" y="152411"/>
                </a:cubicBezTo>
                <a:lnTo>
                  <a:pt x="4512945" y="2741284"/>
                </a:lnTo>
                <a:cubicBezTo>
                  <a:pt x="4512945" y="2825458"/>
                  <a:pt x="4444708" y="2893695"/>
                  <a:pt x="4360534" y="2893695"/>
                </a:cubicBezTo>
                <a:lnTo>
                  <a:pt x="152411" y="2893695"/>
                </a:lnTo>
                <a:cubicBezTo>
                  <a:pt x="68237" y="2893695"/>
                  <a:pt x="0" y="2825458"/>
                  <a:pt x="0" y="274128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3429" y="3406146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4105632" y="3806196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103K+ Records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0395" y="4072896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37647" y="3406146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85973" y="133945"/>
                </a:moveTo>
                <a:lnTo>
                  <a:pt x="187747" y="133945"/>
                </a:lnTo>
                <a:cubicBezTo>
                  <a:pt x="177868" y="133945"/>
                  <a:pt x="169887" y="125964"/>
                  <a:pt x="169887" y="116086"/>
                </a:cubicBezTo>
                <a:lnTo>
                  <a:pt x="169887" y="17859"/>
                </a:lnTo>
                <a:cubicBezTo>
                  <a:pt x="169887" y="7981"/>
                  <a:pt x="177924" y="-112"/>
                  <a:pt x="187691" y="1172"/>
                </a:cubicBezTo>
                <a:cubicBezTo>
                  <a:pt x="247408" y="9097"/>
                  <a:pt x="294735" y="56424"/>
                  <a:pt x="302661" y="116142"/>
                </a:cubicBezTo>
                <a:cubicBezTo>
                  <a:pt x="303944" y="125909"/>
                  <a:pt x="295852" y="133945"/>
                  <a:pt x="285973" y="133945"/>
                </a:cubicBezTo>
                <a:close/>
                <a:moveTo>
                  <a:pt x="124234" y="20762"/>
                </a:moveTo>
                <a:cubicBezTo>
                  <a:pt x="134336" y="18641"/>
                  <a:pt x="143098" y="26901"/>
                  <a:pt x="143098" y="37226"/>
                </a:cubicBezTo>
                <a:lnTo>
                  <a:pt x="143098" y="147340"/>
                </a:lnTo>
                <a:cubicBezTo>
                  <a:pt x="143098" y="150465"/>
                  <a:pt x="144214" y="153479"/>
                  <a:pt x="146168" y="155879"/>
                </a:cubicBezTo>
                <a:lnTo>
                  <a:pt x="219894" y="244841"/>
                </a:lnTo>
                <a:cubicBezTo>
                  <a:pt x="226423" y="252710"/>
                  <a:pt x="225028" y="264598"/>
                  <a:pt x="216043" y="269453"/>
                </a:cubicBezTo>
                <a:cubicBezTo>
                  <a:pt x="197011" y="279834"/>
                  <a:pt x="175189" y="285750"/>
                  <a:pt x="152028" y="285750"/>
                </a:cubicBezTo>
                <a:cubicBezTo>
                  <a:pt x="78079" y="285750"/>
                  <a:pt x="18083" y="225754"/>
                  <a:pt x="18083" y="151805"/>
                </a:cubicBezTo>
                <a:cubicBezTo>
                  <a:pt x="18083" y="87344"/>
                  <a:pt x="63568" y="33542"/>
                  <a:pt x="124234" y="20762"/>
                </a:cubicBezTo>
                <a:close/>
                <a:moveTo>
                  <a:pt x="266663" y="160734"/>
                </a:moveTo>
                <a:lnTo>
                  <a:pt x="302382" y="160734"/>
                </a:lnTo>
                <a:cubicBezTo>
                  <a:pt x="312706" y="160734"/>
                  <a:pt x="320966" y="169497"/>
                  <a:pt x="318846" y="179598"/>
                </a:cubicBezTo>
                <a:cubicBezTo>
                  <a:pt x="313153" y="206611"/>
                  <a:pt x="299312" y="230609"/>
                  <a:pt x="280002" y="248915"/>
                </a:cubicBezTo>
                <a:cubicBezTo>
                  <a:pt x="273137" y="255445"/>
                  <a:pt x="262365" y="254050"/>
                  <a:pt x="256338" y="246738"/>
                </a:cubicBezTo>
                <a:lnTo>
                  <a:pt x="209234" y="189979"/>
                </a:lnTo>
                <a:cubicBezTo>
                  <a:pt x="199579" y="178315"/>
                  <a:pt x="207894" y="160734"/>
                  <a:pt x="222963" y="160734"/>
                </a:cubicBezTo>
                <a:lnTo>
                  <a:pt x="266607" y="16073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1"/>
          <p:cNvSpPr/>
          <p:nvPr/>
        </p:nvSpPr>
        <p:spPr>
          <a:xfrm>
            <a:off x="5505569" y="3806196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Dashboards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10332" y="4072896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91162" y="3406146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4"/>
          <p:cNvSpPr/>
          <p:nvPr/>
        </p:nvSpPr>
        <p:spPr>
          <a:xfrm>
            <a:off x="6905506" y="3806196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Key Insights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10268" y="4072896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Discovered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148495" y="4533906"/>
            <a:ext cx="3895725" cy="7620"/>
          </a:xfrm>
          <a:custGeom>
            <a:avLst/>
            <a:gdLst/>
            <a:ahLst/>
            <a:cxnLst/>
            <a:rect l="l" t="t" r="r" b="b"/>
            <a:pathLst>
              <a:path w="3895725" h="7620">
                <a:moveTo>
                  <a:pt x="0" y="0"/>
                </a:moveTo>
                <a:lnTo>
                  <a:pt x="3895725" y="0"/>
                </a:lnTo>
                <a:lnTo>
                  <a:pt x="38957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110395" y="4766314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091345" y="5071114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PRAVEEN MANDANGI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110395" y="5451993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Uber Trip Analytics Capstone Project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311491" y="635496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1"/>
          <p:cNvSpPr/>
          <p:nvPr/>
        </p:nvSpPr>
        <p:spPr>
          <a:xfrm>
            <a:off x="4540091" y="6297811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Data into Actionable Intelligence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66209" y="635496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Trip Analysis Dashboard</dc:title>
  <dc:subject>Uber Trip Analysis Dashboard</dc:subject>
  <dc:creator>Kimi</dc:creator>
  <cp:lastModifiedBy>Kimi</cp:lastModifiedBy>
  <cp:revision>1</cp:revision>
  <dcterms:created xsi:type="dcterms:W3CDTF">2026-02-14T05:25:36Z</dcterms:created>
  <dcterms:modified xsi:type="dcterms:W3CDTF">2026-02-14T05:25:36Z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{"Label":"Uber Trip Analysis Dashboard","ContentProducer":"001191110108MACG2KBH8F10000","ProduceID":"19c5a9ad-7832-8635-8000-0000988d8fd9","ReservedCode1":"","ContentPropagator":"001191110108MACG2KBH8F20000","PropagateID":"19c5a9ad-7832-8635-8000-0000988d8fd9","ReservedCode2":""}</vt:lpwstr>
  </property>
</Properties>
</file>